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74" r:id="rId6"/>
    <p:sldId id="275" r:id="rId7"/>
    <p:sldId id="262" r:id="rId8"/>
    <p:sldId id="263" r:id="rId9"/>
    <p:sldId id="277" r:id="rId10"/>
    <p:sldId id="264" r:id="rId11"/>
    <p:sldId id="266" r:id="rId12"/>
    <p:sldId id="265" r:id="rId13"/>
    <p:sldId id="278" r:id="rId14"/>
    <p:sldId id="267" r:id="rId15"/>
    <p:sldId id="276" r:id="rId16"/>
    <p:sldId id="273" r:id="rId1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B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87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7216"/>
            <a:ext cx="91440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 dirty="0"/>
              <a:t> 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806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61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5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10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280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00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5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55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3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7216"/>
            <a:ext cx="6948264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C5CDB-1AEF-4522-8EAF-CE1F4E5D863E}" type="datetimeFigureOut">
              <a:rPr lang="ko-KR" altLang="en-US" smtClean="0"/>
              <a:t>2025-10-23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0A39C-9AA3-4A83-82D7-24ADE085033F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83768" y="1491630"/>
            <a:ext cx="5436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8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“Ley de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Gay </a:t>
            </a:r>
            <a:r>
              <a:rPr lang="en-US" altLang="ko-KR" sz="2800" b="1" dirty="0" err="1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Lussac</a:t>
            </a:r>
            <a:r>
              <a:rPr kumimoji="0" lang="en-US" altLang="ko-KR" sz="28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”</a:t>
            </a:r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2483768" y="411510"/>
            <a:ext cx="543609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Leyes</a:t>
            </a:r>
            <a:r>
              <a:rPr lang="en-US" altLang="ko-KR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 de los Gases</a:t>
            </a: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6623720" y="2028070"/>
            <a:ext cx="1296144" cy="40011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Química</a:t>
            </a:r>
            <a:endParaRPr lang="en-US" altLang="ko-KR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42705" y="538435"/>
            <a:ext cx="45719" cy="1728191"/>
          </a:xfrm>
          <a:prstGeom prst="rect">
            <a:avLst/>
          </a:prstGeom>
          <a:solidFill>
            <a:schemeClr val="accent3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/>
        </p:nvSpPr>
        <p:spPr>
          <a:xfrm>
            <a:off x="8164505" y="538435"/>
            <a:ext cx="144015" cy="1728191"/>
          </a:xfrm>
          <a:prstGeom prst="rect">
            <a:avLst/>
          </a:prstGeom>
          <a:solidFill>
            <a:schemeClr val="accent3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DefiniciÃ³n de Leyes de los Gases, QuÃ© es, su Significado y Concep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178631"/>
            <a:ext cx="3182939" cy="199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Unidad 1: “Los Gases”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2915816" y="1563638"/>
            <a:ext cx="2736304" cy="4320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Objetivos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1115616" y="2665719"/>
            <a:ext cx="6624736" cy="12241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tx1"/>
                </a:solidFill>
              </a:rPr>
              <a:t>Identificar la Ley de Gay-Lussac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tx1"/>
                </a:solidFill>
              </a:rPr>
              <a:t>Relacionar las variables involucradas en esta Ley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tx1"/>
                </a:solidFill>
              </a:rPr>
              <a:t>Resolver ejercicios</a:t>
            </a:r>
          </a:p>
        </p:txBody>
      </p:sp>
      <p:pic>
        <p:nvPicPr>
          <p:cNvPr id="6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155926"/>
            <a:ext cx="1048886" cy="78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39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Leyes de los Gases Ideales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259632" y="1116040"/>
            <a:ext cx="6408712" cy="12241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La ley de los gases ideales es la ecuación de estado del  gas ideal, un gas hipotético formado por partículas        puntuales sin atracción ni repulsión entre ellas y cuyos    choques son perfectamente elásticos</a:t>
            </a:r>
          </a:p>
        </p:txBody>
      </p:sp>
      <p:pic>
        <p:nvPicPr>
          <p:cNvPr id="2052" name="Picture 4" descr="â· Ley de los gases ideales - Ejercicios Resueltos ã Paso a Paso ã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575138"/>
            <a:ext cx="3888432" cy="223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redondeado 4"/>
          <p:cNvSpPr/>
          <p:nvPr/>
        </p:nvSpPr>
        <p:spPr>
          <a:xfrm>
            <a:off x="755576" y="3075806"/>
            <a:ext cx="1800200" cy="108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Condiciones 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ideales</a:t>
            </a:r>
          </a:p>
        </p:txBody>
      </p:sp>
      <p:pic>
        <p:nvPicPr>
          <p:cNvPr id="6" name="Picture 4" descr="Resultado de imagen de imagen cientific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5194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ibujo de Ampolleta - Imagu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4252" y="3075806"/>
            <a:ext cx="1004172" cy="75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720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Leyes de los Gases Ideales</a:t>
            </a:r>
          </a:p>
        </p:txBody>
      </p:sp>
      <p:pic>
        <p:nvPicPr>
          <p:cNvPr id="3074" name="Picture 2" descr="Ley de los gases ideales - FÃ­sica de nivel bÃ¡sico, nada complejo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31590"/>
            <a:ext cx="4457700" cy="363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esultado de imagen de imagen cientific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ibujo de Ampolleta - Imagu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95886"/>
            <a:ext cx="1408926" cy="105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558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Recordemos…</a:t>
            </a:r>
          </a:p>
        </p:txBody>
      </p:sp>
      <p:pic>
        <p:nvPicPr>
          <p:cNvPr id="4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5194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133589" y="1116040"/>
            <a:ext cx="23727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2800" b="1" dirty="0"/>
              <a:t>Ley de </a:t>
            </a:r>
            <a:r>
              <a:rPr lang="es-CL" sz="2800" b="1" dirty="0" err="1"/>
              <a:t>Boyle</a:t>
            </a:r>
            <a:endParaRPr lang="es-CL" sz="2800" b="1" dirty="0"/>
          </a:p>
        </p:txBody>
      </p:sp>
      <p:sp>
        <p:nvSpPr>
          <p:cNvPr id="7" name="Rectángulo redondeado 6"/>
          <p:cNvSpPr/>
          <p:nvPr/>
        </p:nvSpPr>
        <p:spPr>
          <a:xfrm>
            <a:off x="2411759" y="1916026"/>
            <a:ext cx="3816424" cy="59232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Condición Inicial =condición final</a:t>
            </a:r>
          </a:p>
        </p:txBody>
      </p:sp>
      <p:pic>
        <p:nvPicPr>
          <p:cNvPr id="8" name="Picture 6" descr="Ley de Boy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785116"/>
            <a:ext cx="3096344" cy="204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ey de Boyle-Mariotte: historia, expresiÃ³n, ejemplos - Lifed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978135"/>
            <a:ext cx="3312368" cy="186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ibujo de Ampolleta - Imagu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594" y="270552"/>
            <a:ext cx="1004172" cy="75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5013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107504" y="300022"/>
            <a:ext cx="91440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s-CL" dirty="0"/>
              <a:t>Joseph Louis Gay – Lussac</a:t>
            </a:r>
          </a:p>
          <a:p>
            <a:pPr algn="ctr"/>
            <a:r>
              <a:rPr lang="es-CL" dirty="0"/>
              <a:t>(1778 - 1850) </a:t>
            </a:r>
          </a:p>
        </p:txBody>
      </p:sp>
      <p:pic>
        <p:nvPicPr>
          <p:cNvPr id="7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83737"/>
            <a:ext cx="1004172" cy="753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ouis Joseph Gay-Lussac - Wikipedia, la enciclopedia libr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491630"/>
            <a:ext cx="271909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31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s-CL" dirty="0"/>
            </a:br>
            <a:r>
              <a:rPr lang="es-CL" dirty="0"/>
              <a:t>J. Gay- Lussac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865590" y="1302171"/>
            <a:ext cx="6984776" cy="14401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rPr>
              <a:t>En 1802 descubrió que aumentando la temperatura y manteniendo el volumen constante, se tenía como resultado un aumento proporcional de la presión del gas. </a:t>
            </a:r>
          </a:p>
        </p:txBody>
      </p:sp>
      <p:pic>
        <p:nvPicPr>
          <p:cNvPr id="5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51870"/>
            <a:ext cx="1292204" cy="96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QuÃ­mica: Ley de Gay-Lussac (relaciÃ³n entre la temperatura y la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912912"/>
            <a:ext cx="3732051" cy="2099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784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079612" y="1419622"/>
            <a:ext cx="6984776" cy="93610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altLang="ko-KR" sz="2000" dirty="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rPr>
              <a:t>¿Qué ocurre con la presión de un gas cuando se aumenta la temperatura?</a:t>
            </a:r>
            <a:endParaRPr lang="es-ES_tradnl" altLang="ko-KR" sz="2000" dirty="0">
              <a:solidFill>
                <a:schemeClr val="tx1"/>
              </a:solidFill>
              <a:latin typeface="Times New Roman" panose="02020603050405020304" pitchFamily="18" charset="0"/>
              <a:ea typeface="굴림" pitchFamily="34" charset="-127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3635896" y="2859782"/>
            <a:ext cx="4422396" cy="165618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altLang="es-CO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Esto se debe a que la temperatura está  directamente relacionada con la energía cinética debido al movimiento de las    partículas del gas.</a:t>
            </a:r>
          </a:p>
          <a:p>
            <a:pPr algn="ctr"/>
            <a:endParaRPr lang="es-ES_tradnl" altLang="ko-KR" sz="2000" dirty="0">
              <a:solidFill>
                <a:schemeClr val="tx1"/>
              </a:solidFill>
              <a:latin typeface="Times New Roman" panose="02020603050405020304" pitchFamily="18" charset="0"/>
              <a:ea typeface="굴림" pitchFamily="34" charset="-127"/>
            </a:endParaRPr>
          </a:p>
        </p:txBody>
      </p:sp>
      <p:pic>
        <p:nvPicPr>
          <p:cNvPr id="6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s-CL" dirty="0"/>
            </a:br>
            <a:r>
              <a:rPr lang="es-CL" dirty="0"/>
              <a:t>J. Gay- Lussac </a:t>
            </a:r>
          </a:p>
        </p:txBody>
      </p:sp>
      <p:pic>
        <p:nvPicPr>
          <p:cNvPr id="4098" name="Picture 2" descr="LEY DE GAY-LUSSAC - Solo Formul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499742"/>
            <a:ext cx="1800200" cy="240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Dibujo de Ampolleta - Imagu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7494"/>
            <a:ext cx="1008112" cy="75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61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073516" y="1288323"/>
            <a:ext cx="6984776" cy="93610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altLang="ko-KR" sz="2000" dirty="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rPr>
              <a:t>“A volumen constante, la presión de un gas es directamente proporcional a la temperatura ”</a:t>
            </a:r>
            <a:endParaRPr lang="es-ES_tradnl" altLang="ko-KR" sz="2000" dirty="0">
              <a:solidFill>
                <a:schemeClr val="tx1"/>
              </a:solidFill>
              <a:latin typeface="Times New Roman" panose="02020603050405020304" pitchFamily="18" charset="0"/>
              <a:ea typeface="굴림" pitchFamily="34" charset="-127"/>
            </a:endParaRPr>
          </a:p>
        </p:txBody>
      </p:sp>
      <p:sp>
        <p:nvSpPr>
          <p:cNvPr id="5" name="Rectángulo redondeado 4"/>
          <p:cNvSpPr/>
          <p:nvPr/>
        </p:nvSpPr>
        <p:spPr>
          <a:xfrm>
            <a:off x="3635896" y="2628284"/>
            <a:ext cx="4422396" cy="1656184"/>
          </a:xfrm>
          <a:prstGeom prst="roundRect">
            <a:avLst/>
          </a:prstGeom>
          <a:solidFill>
            <a:srgbClr val="E2BAD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ES_tradnl" altLang="es-CO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Esto se debe a que la temperatura está  directamente relacionada con la energía cinética debido al movimiento de las    partículas del gas.</a:t>
            </a:r>
          </a:p>
          <a:p>
            <a:pPr algn="ctr"/>
            <a:endParaRPr lang="es-ES_tradnl" altLang="ko-KR" sz="2000" dirty="0">
              <a:solidFill>
                <a:schemeClr val="tx1"/>
              </a:solidFill>
              <a:latin typeface="Times New Roman" panose="02020603050405020304" pitchFamily="18" charset="0"/>
              <a:ea typeface="굴림" pitchFamily="34" charset="-127"/>
            </a:endParaRPr>
          </a:p>
        </p:txBody>
      </p:sp>
      <p:pic>
        <p:nvPicPr>
          <p:cNvPr id="6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s-CL" dirty="0"/>
            </a:br>
            <a:r>
              <a:rPr lang="es-CL" dirty="0"/>
              <a:t>J. Gay- Lussac </a:t>
            </a:r>
          </a:p>
        </p:txBody>
      </p:sp>
      <p:pic>
        <p:nvPicPr>
          <p:cNvPr id="3074" name="Picture 2" descr="Vector de stock (libre de regalÃ­as) sobre Ley de Gay-Lussac (ley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535234"/>
            <a:ext cx="2771878" cy="23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bujo de Ampolleta - Imagu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67494"/>
            <a:ext cx="1008112" cy="75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19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555526"/>
            <a:ext cx="91440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¿Qué quiere decir que sean </a:t>
            </a:r>
            <a:br>
              <a:rPr lang="es-CL" dirty="0"/>
            </a:br>
            <a:r>
              <a:rPr lang="es-CL" dirty="0"/>
              <a:t>directamente proporcionales?</a:t>
            </a:r>
          </a:p>
        </p:txBody>
      </p:sp>
      <p:pic>
        <p:nvPicPr>
          <p:cNvPr id="5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33950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6" y="4083918"/>
            <a:ext cx="1192902" cy="8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/>
          <p:cNvSpPr/>
          <p:nvPr/>
        </p:nvSpPr>
        <p:spPr>
          <a:xfrm>
            <a:off x="1079612" y="1812243"/>
            <a:ext cx="6984776" cy="93610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_tradnl" altLang="ko-KR" sz="2000" dirty="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rPr>
              <a:t>Si la temperatura aumenta la presión aumenta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_tradnl" altLang="ko-KR" sz="2000" dirty="0">
                <a:solidFill>
                  <a:schemeClr val="tx1"/>
                </a:solidFill>
                <a:latin typeface="Times New Roman" panose="02020603050405020304" pitchFamily="18" charset="0"/>
                <a:ea typeface="굴림" pitchFamily="34" charset="-127"/>
              </a:rPr>
              <a:t>Si la temperatura disminuye la presión disminuye</a:t>
            </a:r>
          </a:p>
        </p:txBody>
      </p:sp>
      <p:pic>
        <p:nvPicPr>
          <p:cNvPr id="5122" name="Picture 2" descr="Ley de Gay-Lussac | fisica fluid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003798"/>
            <a:ext cx="2604257" cy="189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93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Ley de Gay - Lussac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2555776" y="1347614"/>
            <a:ext cx="3816424" cy="5923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Condición Inicial =condición final</a:t>
            </a:r>
          </a:p>
        </p:txBody>
      </p:sp>
      <p:pic>
        <p:nvPicPr>
          <p:cNvPr id="6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795886"/>
            <a:ext cx="1100183" cy="82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redondeado 8"/>
          <p:cNvSpPr/>
          <p:nvPr/>
        </p:nvSpPr>
        <p:spPr>
          <a:xfrm>
            <a:off x="4572000" y="2265727"/>
            <a:ext cx="2808312" cy="160882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solidFill>
                  <a:schemeClr val="tx1"/>
                </a:solidFill>
              </a:rPr>
              <a:t>Donde: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P1 = presión inicial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T1= temperatura inicial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P2 = presión final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T2= temperatura final</a:t>
            </a:r>
          </a:p>
          <a:p>
            <a:pPr algn="ctr"/>
            <a:endParaRPr lang="es-CL" sz="1600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1783655" y="4039894"/>
            <a:ext cx="1214200" cy="59232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P/T = k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3563888" y="4234864"/>
            <a:ext cx="4464496" cy="5923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i="1" dirty="0">
                <a:solidFill>
                  <a:schemeClr val="tx1"/>
                </a:solidFill>
              </a:rPr>
              <a:t>Recordemos que el volumen se </a:t>
            </a:r>
          </a:p>
          <a:p>
            <a:pPr algn="ctr"/>
            <a:r>
              <a:rPr lang="es-CL" i="1" dirty="0">
                <a:solidFill>
                  <a:schemeClr val="tx1"/>
                </a:solidFill>
              </a:rPr>
              <a:t>mantiene constante</a:t>
            </a:r>
          </a:p>
        </p:txBody>
      </p:sp>
      <p:pic>
        <p:nvPicPr>
          <p:cNvPr id="3" name="Picture 2" descr="liceomoderno114: Ley de Gay Lussa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869" y="2249884"/>
            <a:ext cx="1775813" cy="148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77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097" y="164964"/>
            <a:ext cx="91440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¿Qué quiere decir la</a:t>
            </a:r>
            <a:br>
              <a:rPr lang="es-CL" dirty="0"/>
            </a:br>
            <a:r>
              <a:rPr lang="es-CL" dirty="0"/>
              <a:t>Ley de Gay- Lussac?</a:t>
            </a:r>
          </a:p>
        </p:txBody>
      </p:sp>
      <p:sp>
        <p:nvSpPr>
          <p:cNvPr id="6" name="Rectángulo redondeado 5"/>
          <p:cNvSpPr/>
          <p:nvPr/>
        </p:nvSpPr>
        <p:spPr>
          <a:xfrm>
            <a:off x="863588" y="1419622"/>
            <a:ext cx="7416824" cy="237626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altLang="es-CO" sz="2000" dirty="0">
                <a:solidFill>
                  <a:schemeClr val="tx1"/>
                </a:solidFill>
              </a:rPr>
              <a:t>Para una cierta cantidad de gas, al aumentar la temperatura las moléculas del gas se mueven más rápidamente y por lo tanto aumenta el número de choques contra las paredes   por unidad de tiempo, es decir, aumenta la presiòn ya que el recipiente es de paredes fijas y su volumen no puede     cambiar.</a:t>
            </a:r>
          </a:p>
        </p:txBody>
      </p:sp>
      <p:pic>
        <p:nvPicPr>
          <p:cNvPr id="9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8924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29" y="3933634"/>
            <a:ext cx="1208519" cy="90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670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80528" y="267494"/>
            <a:ext cx="91440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¿Cómo podríamos </a:t>
            </a:r>
            <a:br>
              <a:rPr lang="es-CL" dirty="0"/>
            </a:br>
            <a:r>
              <a:rPr lang="es-CL" dirty="0"/>
              <a:t>graficar la P v/s T ?</a:t>
            </a:r>
          </a:p>
        </p:txBody>
      </p:sp>
      <p:pic>
        <p:nvPicPr>
          <p:cNvPr id="1026" name="Picture 2" descr="LEY DE GAY-LUSSAC (relaciÃ³n entre la presiÃ³n y la temperatura 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252" y="1563638"/>
            <a:ext cx="3960440" cy="327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Resultado de imagen de imagen cientific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8924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ibujo de Ampolleta - Imagui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29" y="3933634"/>
            <a:ext cx="1208519" cy="906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026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Ejercicio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899592" y="1131590"/>
            <a:ext cx="7452828" cy="115212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Una cierta cantidad de gas se encuentra a la presión de 790 </a:t>
            </a:r>
            <a:r>
              <a:rPr lang="es-CL" dirty="0" err="1">
                <a:solidFill>
                  <a:schemeClr val="tx1"/>
                </a:solidFill>
              </a:rPr>
              <a:t>mmHg</a:t>
            </a:r>
            <a:r>
              <a:rPr lang="es-CL" dirty="0">
                <a:solidFill>
                  <a:schemeClr val="tx1"/>
                </a:solidFill>
              </a:rPr>
              <a:t> cuando la temperatura es de 298,15 K. Determine la presión que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 alcanzará si la temperatura sube hasta los 473,15 K, si el volumen 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se mantiene constante.</a:t>
            </a:r>
            <a:endParaRPr lang="es-ES_tradnl" altLang="es-CO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90940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75646"/>
            <a:ext cx="1048886" cy="78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/>
          <p:cNvSpPr/>
          <p:nvPr/>
        </p:nvSpPr>
        <p:spPr>
          <a:xfrm>
            <a:off x="1259632" y="2427734"/>
            <a:ext cx="2160240" cy="174482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sz="1400" dirty="0">
                <a:solidFill>
                  <a:schemeClr val="tx1"/>
                </a:solidFill>
              </a:rPr>
              <a:t>Lo primero es anotar los datos:</a:t>
            </a:r>
          </a:p>
          <a:p>
            <a:pPr algn="ctr"/>
            <a:r>
              <a:rPr lang="es-CL" sz="1400" dirty="0">
                <a:solidFill>
                  <a:schemeClr val="tx1"/>
                </a:solidFill>
              </a:rPr>
              <a:t>P1 = 790 </a:t>
            </a:r>
            <a:r>
              <a:rPr lang="es-CL" sz="1400" dirty="0" err="1">
                <a:solidFill>
                  <a:schemeClr val="tx1"/>
                </a:solidFill>
              </a:rPr>
              <a:t>mmHg</a:t>
            </a:r>
            <a:r>
              <a:rPr lang="es-CL" sz="1400" dirty="0">
                <a:solidFill>
                  <a:schemeClr val="tx1"/>
                </a:solidFill>
              </a:rPr>
              <a:t> </a:t>
            </a:r>
          </a:p>
          <a:p>
            <a:r>
              <a:rPr lang="es-CL" sz="1400" dirty="0">
                <a:solidFill>
                  <a:schemeClr val="tx1"/>
                </a:solidFill>
              </a:rPr>
              <a:t>T1 = 298.15 </a:t>
            </a:r>
            <a:r>
              <a:rPr lang="es-CL" sz="1400" dirty="0" err="1">
                <a:solidFill>
                  <a:schemeClr val="tx1"/>
                </a:solidFill>
              </a:rPr>
              <a:t>°K</a:t>
            </a:r>
            <a:endParaRPr lang="es-CL" sz="1400" dirty="0">
              <a:solidFill>
                <a:schemeClr val="tx1"/>
              </a:solidFill>
            </a:endParaRPr>
          </a:p>
          <a:p>
            <a:pPr algn="ctr"/>
            <a:r>
              <a:rPr lang="es-CL" sz="1400" dirty="0">
                <a:solidFill>
                  <a:schemeClr val="tx1"/>
                </a:solidFill>
              </a:rPr>
              <a:t>P2 = X</a:t>
            </a:r>
          </a:p>
          <a:p>
            <a:pPr algn="ctr"/>
            <a:r>
              <a:rPr lang="es-CL" sz="1400" dirty="0">
                <a:solidFill>
                  <a:schemeClr val="tx1"/>
                </a:solidFill>
              </a:rPr>
              <a:t>T2 = 473.15 </a:t>
            </a:r>
            <a:r>
              <a:rPr lang="es-CL" sz="1400" dirty="0" err="1">
                <a:solidFill>
                  <a:schemeClr val="tx1"/>
                </a:solidFill>
              </a:rPr>
              <a:t>°K</a:t>
            </a:r>
            <a:endParaRPr lang="es-CL" sz="1400" dirty="0">
              <a:solidFill>
                <a:schemeClr val="tx1"/>
              </a:solidFill>
            </a:endParaRPr>
          </a:p>
          <a:p>
            <a:pPr algn="ctr"/>
            <a:r>
              <a:rPr lang="es-CL" sz="1400" dirty="0">
                <a:solidFill>
                  <a:schemeClr val="tx1"/>
                </a:solidFill>
              </a:rPr>
              <a:t>V =</a:t>
            </a:r>
            <a:r>
              <a:rPr lang="es-CL" sz="1400" dirty="0" err="1">
                <a:solidFill>
                  <a:schemeClr val="tx1"/>
                </a:solidFill>
              </a:rPr>
              <a:t>cte</a:t>
            </a:r>
            <a:endParaRPr lang="es-CL" sz="1400" dirty="0">
              <a:solidFill>
                <a:schemeClr val="tx1"/>
              </a:solidFill>
            </a:endParaRPr>
          </a:p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4698014" y="2427734"/>
            <a:ext cx="1771499" cy="59232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Reemplazo en la fórmula</a:t>
            </a:r>
          </a:p>
        </p:txBody>
      </p:sp>
      <p:pic>
        <p:nvPicPr>
          <p:cNvPr id="10" name="Picture 2" descr="liceomoderno114: Ley de Gay Lussa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014" y="3236859"/>
            <a:ext cx="1775813" cy="148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64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Entonces…</a:t>
            </a:r>
          </a:p>
        </p:txBody>
      </p:sp>
      <p:pic>
        <p:nvPicPr>
          <p:cNvPr id="4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90940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Dibujo de Ampolleta - Imagu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075646"/>
            <a:ext cx="1048886" cy="786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redondeado 5"/>
          <p:cNvSpPr/>
          <p:nvPr/>
        </p:nvSpPr>
        <p:spPr>
          <a:xfrm>
            <a:off x="940231" y="1184104"/>
            <a:ext cx="1368152" cy="9361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sz="1400" u="sng" dirty="0">
                <a:solidFill>
                  <a:schemeClr val="tx1"/>
                </a:solidFill>
              </a:rPr>
              <a:t>P1 </a:t>
            </a:r>
            <a:r>
              <a:rPr lang="es-CL" sz="1400" dirty="0">
                <a:solidFill>
                  <a:schemeClr val="tx1"/>
                </a:solidFill>
              </a:rPr>
              <a:t>= </a:t>
            </a:r>
            <a:r>
              <a:rPr lang="es-CL" sz="1400" u="sng" dirty="0">
                <a:solidFill>
                  <a:schemeClr val="tx1"/>
                </a:solidFill>
              </a:rPr>
              <a:t>P2 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T1   T2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919979" y="2474528"/>
            <a:ext cx="1368152" cy="93610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sz="1400" u="sng" dirty="0">
                <a:solidFill>
                  <a:schemeClr val="tx1"/>
                </a:solidFill>
              </a:rPr>
              <a:t>P1 </a:t>
            </a:r>
            <a:r>
              <a:rPr lang="es-CL" sz="1400" dirty="0">
                <a:solidFill>
                  <a:schemeClr val="tx1"/>
                </a:solidFill>
              </a:rPr>
              <a:t>= </a:t>
            </a:r>
            <a:r>
              <a:rPr lang="es-CL" sz="1400" u="sng" dirty="0">
                <a:solidFill>
                  <a:srgbClr val="FF0000"/>
                </a:solidFill>
              </a:rPr>
              <a:t>X 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T1   T2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8" name="Rectángulo redondeado 7"/>
          <p:cNvSpPr/>
          <p:nvPr/>
        </p:nvSpPr>
        <p:spPr>
          <a:xfrm>
            <a:off x="3031413" y="2474528"/>
            <a:ext cx="2113343" cy="93610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sz="1400" u="sng" dirty="0">
                <a:solidFill>
                  <a:schemeClr val="tx1"/>
                </a:solidFill>
              </a:rPr>
              <a:t> 790 </a:t>
            </a:r>
            <a:r>
              <a:rPr lang="es-CL" sz="1400" u="sng" dirty="0" err="1">
                <a:solidFill>
                  <a:schemeClr val="tx1"/>
                </a:solidFill>
              </a:rPr>
              <a:t>mmHg</a:t>
            </a:r>
            <a:r>
              <a:rPr lang="es-CL" sz="1400" dirty="0">
                <a:solidFill>
                  <a:schemeClr val="tx1"/>
                </a:solidFill>
              </a:rPr>
              <a:t>= </a:t>
            </a:r>
            <a:r>
              <a:rPr lang="es-CL" sz="1400" u="sng" dirty="0">
                <a:solidFill>
                  <a:srgbClr val="FF0000"/>
                </a:solidFill>
              </a:rPr>
              <a:t>P2</a:t>
            </a:r>
            <a:r>
              <a:rPr lang="es-CL" sz="1400" u="sng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298.15°K   473.15°K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5819416" y="2474528"/>
            <a:ext cx="2641016" cy="93610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sz="1400" u="sng" dirty="0">
                <a:solidFill>
                  <a:schemeClr val="tx1"/>
                </a:solidFill>
              </a:rPr>
              <a:t>790 </a:t>
            </a:r>
            <a:r>
              <a:rPr lang="es-CL" sz="1400" u="sng" dirty="0" err="1">
                <a:solidFill>
                  <a:schemeClr val="tx1"/>
                </a:solidFill>
              </a:rPr>
              <a:t>mmHg</a:t>
            </a:r>
            <a:r>
              <a:rPr lang="es-CL" sz="1400" u="sng" dirty="0">
                <a:solidFill>
                  <a:schemeClr val="tx1"/>
                </a:solidFill>
              </a:rPr>
              <a:t> * 473.15°K </a:t>
            </a:r>
            <a:r>
              <a:rPr lang="es-CL" sz="1400" dirty="0">
                <a:solidFill>
                  <a:schemeClr val="tx1"/>
                </a:solidFill>
              </a:rPr>
              <a:t>= </a:t>
            </a:r>
            <a:r>
              <a:rPr lang="es-CL" sz="1400" dirty="0">
                <a:solidFill>
                  <a:srgbClr val="FF0000"/>
                </a:solidFill>
              </a:rPr>
              <a:t>P2</a:t>
            </a:r>
            <a:r>
              <a:rPr lang="es-CL" sz="1400" u="sng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s-CL" sz="1600" dirty="0">
                <a:solidFill>
                  <a:schemeClr val="tx1"/>
                </a:solidFill>
              </a:rPr>
              <a:t>298.15°K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5328084" y="3867894"/>
            <a:ext cx="2052228" cy="93610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chemeClr val="tx1"/>
              </a:solidFill>
            </a:endParaRPr>
          </a:p>
          <a:p>
            <a:pPr algn="ctr"/>
            <a:r>
              <a:rPr lang="es-CL" sz="1400" dirty="0">
                <a:solidFill>
                  <a:srgbClr val="FF0000"/>
                </a:solidFill>
              </a:rPr>
              <a:t>P2 = 1253.69 </a:t>
            </a:r>
            <a:r>
              <a:rPr lang="es-CL" sz="1400" dirty="0" err="1">
                <a:solidFill>
                  <a:srgbClr val="FF0000"/>
                </a:solidFill>
              </a:rPr>
              <a:t>mmHg</a:t>
            </a:r>
            <a:r>
              <a:rPr lang="es-CL" sz="1400" u="sng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1" name="Flecha derecha 10"/>
          <p:cNvSpPr/>
          <p:nvPr/>
        </p:nvSpPr>
        <p:spPr>
          <a:xfrm>
            <a:off x="2515756" y="2936469"/>
            <a:ext cx="28803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Flecha derecha 11"/>
          <p:cNvSpPr/>
          <p:nvPr/>
        </p:nvSpPr>
        <p:spPr>
          <a:xfrm>
            <a:off x="5328084" y="2890750"/>
            <a:ext cx="28803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Flecha abajo 12"/>
          <p:cNvSpPr/>
          <p:nvPr/>
        </p:nvSpPr>
        <p:spPr>
          <a:xfrm>
            <a:off x="1624307" y="2165959"/>
            <a:ext cx="45719" cy="2628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Flecha abajo 13"/>
          <p:cNvSpPr/>
          <p:nvPr/>
        </p:nvSpPr>
        <p:spPr>
          <a:xfrm>
            <a:off x="6732240" y="3507854"/>
            <a:ext cx="45719" cy="2628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34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-324544" y="987574"/>
            <a:ext cx="9095316" cy="17160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s-ES" sz="4800" dirty="0"/>
              <a:t>¿Dudas?</a:t>
            </a:r>
            <a:endParaRPr lang="es-CL" sz="4800" dirty="0"/>
          </a:p>
        </p:txBody>
      </p:sp>
      <p:pic>
        <p:nvPicPr>
          <p:cNvPr id="5" name="Picture 4" descr="Resultado de imagen de imagen cientific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26749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ibujo de Ampolleta - Imagu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082" y="2682717"/>
            <a:ext cx="1976064" cy="148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40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478</Words>
  <Application>Microsoft Office PowerPoint</Application>
  <PresentationFormat>Presentación en pantalla (16:9)</PresentationFormat>
  <Paragraphs>72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Times New Roman</vt:lpstr>
      <vt:lpstr>Office Theme</vt:lpstr>
      <vt:lpstr>Presentación de PowerPoint</vt:lpstr>
      <vt:lpstr>Unidad 1: “Los Gases”</vt:lpstr>
      <vt:lpstr>Leyes de los Gases Ideales</vt:lpstr>
      <vt:lpstr>Leyes de los Gases Ideales</vt:lpstr>
      <vt:lpstr>Recordemos…</vt:lpstr>
      <vt:lpstr>Presentación de PowerPoint</vt:lpstr>
      <vt:lpstr> J. Gay- Lussac </vt:lpstr>
      <vt:lpstr> J. Gay- Lussac </vt:lpstr>
      <vt:lpstr> J. Gay- Lussac </vt:lpstr>
      <vt:lpstr>¿Qué quiere decir que sean  directamente proporcionales?</vt:lpstr>
      <vt:lpstr>Ley de Gay - Lussac</vt:lpstr>
      <vt:lpstr>¿Qué quiere decir la Ley de Gay- Lussac?</vt:lpstr>
      <vt:lpstr>¿Cómo podríamos  graficar la P v/s T ?</vt:lpstr>
      <vt:lpstr>Ejercicio</vt:lpstr>
      <vt:lpstr>Entonces…</vt:lpstr>
      <vt:lpstr>Presentación de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Usuario</cp:lastModifiedBy>
  <cp:revision>55</cp:revision>
  <dcterms:created xsi:type="dcterms:W3CDTF">2014-04-01T16:27:38Z</dcterms:created>
  <dcterms:modified xsi:type="dcterms:W3CDTF">2025-10-23T19:56:39Z</dcterms:modified>
</cp:coreProperties>
</file>