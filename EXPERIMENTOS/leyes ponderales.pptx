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0" r:id="rId3"/>
    <p:sldId id="259" r:id="rId4"/>
    <p:sldId id="264" r:id="rId5"/>
    <p:sldId id="265" r:id="rId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CAF061-3519-4C40-9659-4592D5B11B3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A799E2D0-B5DF-48BB-8E6A-7FB2C505C9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138C8D7B-7269-4F8D-B422-138C18E7DFAB}"/>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5" name="Marcador de pie de página 4">
            <a:extLst>
              <a:ext uri="{FF2B5EF4-FFF2-40B4-BE49-F238E27FC236}">
                <a16:creationId xmlns:a16="http://schemas.microsoft.com/office/drawing/2014/main" id="{D17FDB91-B30B-4FFA-8643-6EE871C3059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08F7E0-2A0E-4BBE-8F6E-8EB8A97DF65E}"/>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283819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DBEDEA-7F32-4A89-BCAA-0D86316909C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4D54A34-1194-4613-8664-5C167BE2324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3CB28C4-A126-44AE-88C9-9483700E1B9C}"/>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5" name="Marcador de pie de página 4">
            <a:extLst>
              <a:ext uri="{FF2B5EF4-FFF2-40B4-BE49-F238E27FC236}">
                <a16:creationId xmlns:a16="http://schemas.microsoft.com/office/drawing/2014/main" id="{4EFB53B4-A7A7-4BFF-BB6C-8B4A78F1625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1451C28-8E4D-4692-BDD8-8279FE233A65}"/>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3831295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4F9C95-BE98-4503-9381-0C95174E423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0899286-80A5-4D80-9D26-C23C1BB17A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CBE9306-74DB-434D-B54E-0747F3907408}"/>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5" name="Marcador de pie de página 4">
            <a:extLst>
              <a:ext uri="{FF2B5EF4-FFF2-40B4-BE49-F238E27FC236}">
                <a16:creationId xmlns:a16="http://schemas.microsoft.com/office/drawing/2014/main" id="{3192034F-5B01-4DFC-9269-D539C0C6450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3256E53-799C-4426-8CFB-50C957F2ACC3}"/>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2060596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520949-53FA-4331-93AE-B22A4F3FE107}"/>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BFAA5B9-3A6C-4EB3-BC1D-9D587AAF031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2ADB013F-2F3D-46E6-9AAE-2733D0517EB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ED86EEB-71A0-4B28-86F3-DA738AA73147}"/>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6" name="Marcador de pie de página 5">
            <a:extLst>
              <a:ext uri="{FF2B5EF4-FFF2-40B4-BE49-F238E27FC236}">
                <a16:creationId xmlns:a16="http://schemas.microsoft.com/office/drawing/2014/main" id="{940FE5A8-8DFF-4C20-9EC1-F525D9A0CCF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F3113AB-B945-459D-BAD6-953578E04DE2}"/>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31316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331A8D-E5D2-46A1-81E7-45BCE0E3CEA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AA70A32-6D1A-4FD3-A068-BAEA7CCCE4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63FB94A-03CB-4879-83EE-C89EA9218F4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F391D4D3-A2E0-4761-BB25-A6EF67D43D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310983-351E-43EC-BBCA-B6DBC77D2B4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97452628-E673-460F-BC81-4B3ABFB7FE94}"/>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8" name="Marcador de pie de página 7">
            <a:extLst>
              <a:ext uri="{FF2B5EF4-FFF2-40B4-BE49-F238E27FC236}">
                <a16:creationId xmlns:a16="http://schemas.microsoft.com/office/drawing/2014/main" id="{D1A48BFB-327C-4DBF-9857-EB9F6677B334}"/>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2CDB8B1-8066-453B-AD82-C45B537BB5DC}"/>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1902799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CFD62C-2D52-4D6A-9882-12CEA45177B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2D7C377-8F86-4F2E-853F-D58B9F8A5AC7}"/>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4" name="Marcador de pie de página 3">
            <a:extLst>
              <a:ext uri="{FF2B5EF4-FFF2-40B4-BE49-F238E27FC236}">
                <a16:creationId xmlns:a16="http://schemas.microsoft.com/office/drawing/2014/main" id="{290756EA-90D6-4124-B489-FCB62663122E}"/>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B7BFC3F-0BD5-4909-A09E-5AAB318D568B}"/>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4088520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C293BB6-E461-4EE3-9941-805D814F573A}"/>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3" name="Marcador de pie de página 2">
            <a:extLst>
              <a:ext uri="{FF2B5EF4-FFF2-40B4-BE49-F238E27FC236}">
                <a16:creationId xmlns:a16="http://schemas.microsoft.com/office/drawing/2014/main" id="{D2025B93-EF8B-4D34-8A0C-6B408BFB2210}"/>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D110EDA-9091-4BE4-BE38-1EAD789E7EE5}"/>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1185410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FC9B41-B686-480C-8EDE-353DABADDF6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8F87268-EA5C-4EFE-9F5A-63AB4C77F0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4657B0D9-4DA7-4400-B5FE-5BEDBA601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8E5B34B-122F-4C4E-A109-441455E766D9}"/>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6" name="Marcador de pie de página 5">
            <a:extLst>
              <a:ext uri="{FF2B5EF4-FFF2-40B4-BE49-F238E27FC236}">
                <a16:creationId xmlns:a16="http://schemas.microsoft.com/office/drawing/2014/main" id="{BC35FD7F-5BB9-4FD6-AB53-44A115DA849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8FD95F46-A58C-46DD-90F6-7D9388D566D0}"/>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1971663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F32A2B-4A1D-454D-BD6A-9FC9EBF17B4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FE591A7B-DB0C-436B-8C7A-918C0E24B5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2A0F0DA4-DE80-4BA8-8D8C-BC8E556BE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32221AB-5486-4B0C-B518-8BB9C1579C4D}"/>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6" name="Marcador de pie de página 5">
            <a:extLst>
              <a:ext uri="{FF2B5EF4-FFF2-40B4-BE49-F238E27FC236}">
                <a16:creationId xmlns:a16="http://schemas.microsoft.com/office/drawing/2014/main" id="{67B8060B-0114-4EDB-A104-9ACF94F4301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BE3B880-4483-407C-9EE9-D4C358321BF8}"/>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1828705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E8F061-8B95-4C6B-91C5-829EA031221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20600C5-E021-4387-B052-59C18F2EB57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D2D009E-D236-48DB-838F-735229E06022}"/>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5" name="Marcador de pie de página 4">
            <a:extLst>
              <a:ext uri="{FF2B5EF4-FFF2-40B4-BE49-F238E27FC236}">
                <a16:creationId xmlns:a16="http://schemas.microsoft.com/office/drawing/2014/main" id="{02C9D61D-F7F5-4C14-A00C-E73A9B8E26C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B71AE5-357A-4E92-A097-F9EA256EFD14}"/>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300803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E017369-ADDA-4B66-9345-B4FD8ED0233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EBD8C55-F04F-453C-A80D-83DDFB9DC3B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164CDE4-78E1-4147-B5C9-E2E7E4C34BB0}"/>
              </a:ext>
            </a:extLst>
          </p:cNvPr>
          <p:cNvSpPr>
            <a:spLocks noGrp="1"/>
          </p:cNvSpPr>
          <p:nvPr>
            <p:ph type="dt" sz="half" idx="10"/>
          </p:nvPr>
        </p:nvSpPr>
        <p:spPr/>
        <p:txBody>
          <a:bodyPr/>
          <a:lstStyle/>
          <a:p>
            <a:fld id="{A4A209E9-A00A-4C16-B2E0-C77DF16AE037}" type="datetimeFigureOut">
              <a:rPr lang="es-MX" smtClean="0"/>
              <a:t>28/10/2025</a:t>
            </a:fld>
            <a:endParaRPr lang="es-MX"/>
          </a:p>
        </p:txBody>
      </p:sp>
      <p:sp>
        <p:nvSpPr>
          <p:cNvPr id="5" name="Marcador de pie de página 4">
            <a:extLst>
              <a:ext uri="{FF2B5EF4-FFF2-40B4-BE49-F238E27FC236}">
                <a16:creationId xmlns:a16="http://schemas.microsoft.com/office/drawing/2014/main" id="{3609669A-4875-41B4-A493-D8D0B430A4A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1E4C23A-BB98-43F6-B684-1F0FB19CBE30}"/>
              </a:ext>
            </a:extLst>
          </p:cNvPr>
          <p:cNvSpPr>
            <a:spLocks noGrp="1"/>
          </p:cNvSpPr>
          <p:nvPr>
            <p:ph type="sldNum" sz="quarter" idx="12"/>
          </p:nvPr>
        </p:nvSpPr>
        <p:spPr/>
        <p:txBody>
          <a:bodyPr/>
          <a:lstStyle/>
          <a:p>
            <a:fld id="{858D2836-E019-4B36-A6DE-D7DA18894CD1}" type="slidenum">
              <a:rPr lang="es-MX" smtClean="0"/>
              <a:t>‹Nº›</a:t>
            </a:fld>
            <a:endParaRPr lang="es-MX"/>
          </a:p>
        </p:txBody>
      </p:sp>
    </p:spTree>
    <p:extLst>
      <p:ext uri="{BB962C8B-B14F-4D97-AF65-F5344CB8AC3E}">
        <p14:creationId xmlns:p14="http://schemas.microsoft.com/office/powerpoint/2010/main" val="3771216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76791C7-B3C9-4904-87C2-7D72DCF88E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02155BA-890F-44F1-8091-D5AE5E3B6A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9803B42-4273-4AF3-8380-A565BFB530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A209E9-A00A-4C16-B2E0-C77DF16AE037}" type="datetimeFigureOut">
              <a:rPr lang="es-MX" smtClean="0"/>
              <a:t>28/10/2025</a:t>
            </a:fld>
            <a:endParaRPr lang="es-MX"/>
          </a:p>
        </p:txBody>
      </p:sp>
      <p:sp>
        <p:nvSpPr>
          <p:cNvPr id="5" name="Marcador de pie de página 4">
            <a:extLst>
              <a:ext uri="{FF2B5EF4-FFF2-40B4-BE49-F238E27FC236}">
                <a16:creationId xmlns:a16="http://schemas.microsoft.com/office/drawing/2014/main" id="{1FA54A5E-B149-4C3D-89F9-488B1979E5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AEAE7AC4-94D0-4C47-BBE3-6860007B55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8D2836-E019-4B36-A6DE-D7DA18894CD1}" type="slidenum">
              <a:rPr lang="es-MX" smtClean="0"/>
              <a:t>‹Nº›</a:t>
            </a:fld>
            <a:endParaRPr lang="es-MX"/>
          </a:p>
        </p:txBody>
      </p:sp>
    </p:spTree>
    <p:extLst>
      <p:ext uri="{BB962C8B-B14F-4D97-AF65-F5344CB8AC3E}">
        <p14:creationId xmlns:p14="http://schemas.microsoft.com/office/powerpoint/2010/main" val="2847444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jpg"/><Relationship Id="rId3" Type="http://schemas.openxmlformats.org/officeDocument/2006/relationships/slide" Target="slide3.xml"/><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9.png"/><Relationship Id="rId18" Type="http://schemas.openxmlformats.org/officeDocument/2006/relationships/image" Target="../media/image15.svg"/><Relationship Id="rId3" Type="http://schemas.openxmlformats.org/officeDocument/2006/relationships/slide" Target="slide3.xml"/><Relationship Id="rId7" Type="http://schemas.openxmlformats.org/officeDocument/2006/relationships/image" Target="../media/image5.png"/><Relationship Id="rId12" Type="http://schemas.openxmlformats.org/officeDocument/2006/relationships/image" Target="../media/image13.svg"/><Relationship Id="rId17"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1.jp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12.png"/><Relationship Id="rId5" Type="http://schemas.openxmlformats.org/officeDocument/2006/relationships/image" Target="../media/image3.png"/><Relationship Id="rId15" Type="http://schemas.openxmlformats.org/officeDocument/2006/relationships/slide" Target="slide4.xml"/><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0.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9.png"/><Relationship Id="rId2" Type="http://schemas.openxmlformats.org/officeDocument/2006/relationships/image" Target="../media/image1.png"/><Relationship Id="rId16" Type="http://schemas.openxmlformats.org/officeDocument/2006/relationships/slide" Target="slide1.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3.svg"/><Relationship Id="rId5" Type="http://schemas.openxmlformats.org/officeDocument/2006/relationships/image" Target="../media/image4.svg"/><Relationship Id="rId15" Type="http://schemas.openxmlformats.org/officeDocument/2006/relationships/image" Target="../media/image17.sv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slide" Target="slide3.xml"/><Relationship Id="rId7" Type="http://schemas.openxmlformats.org/officeDocument/2006/relationships/image" Target="../media/image5.png"/><Relationship Id="rId12" Type="http://schemas.openxmlformats.org/officeDocument/2006/relationships/image" Target="../media/image8.svg"/><Relationship Id="rId17" Type="http://schemas.openxmlformats.org/officeDocument/2006/relationships/image" Target="../media/image11.jpg"/><Relationship Id="rId2" Type="http://schemas.openxmlformats.org/officeDocument/2006/relationships/image" Target="../media/image1.png"/><Relationship Id="rId16" Type="http://schemas.openxmlformats.org/officeDocument/2006/relationships/slide" Target="slide5.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7.png"/><Relationship Id="rId5" Type="http://schemas.openxmlformats.org/officeDocument/2006/relationships/image" Target="../media/image3.png"/><Relationship Id="rId15" Type="http://schemas.openxmlformats.org/officeDocument/2006/relationships/image" Target="../media/image18.jpg"/><Relationship Id="rId10" Type="http://schemas.openxmlformats.org/officeDocument/2006/relationships/image" Target="../media/image13.svg"/><Relationship Id="rId19" Type="http://schemas.openxmlformats.org/officeDocument/2006/relationships/image" Target="../media/image15.svg"/><Relationship Id="rId4" Type="http://schemas.openxmlformats.org/officeDocument/2006/relationships/image" Target="../media/image2.png"/><Relationship Id="rId9" Type="http://schemas.openxmlformats.org/officeDocument/2006/relationships/image" Target="../media/image12.png"/><Relationship Id="rId14"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9.png"/><Relationship Id="rId18" Type="http://schemas.openxmlformats.org/officeDocument/2006/relationships/image" Target="../media/image15.svg"/><Relationship Id="rId3" Type="http://schemas.openxmlformats.org/officeDocument/2006/relationships/slide" Target="slide3.xml"/><Relationship Id="rId7" Type="http://schemas.openxmlformats.org/officeDocument/2006/relationships/image" Target="../media/image5.png"/><Relationship Id="rId12" Type="http://schemas.openxmlformats.org/officeDocument/2006/relationships/image" Target="../media/image8.svg"/><Relationship Id="rId17"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1.jp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7.png"/><Relationship Id="rId5" Type="http://schemas.openxmlformats.org/officeDocument/2006/relationships/image" Target="../media/image3.png"/><Relationship Id="rId15" Type="http://schemas.openxmlformats.org/officeDocument/2006/relationships/image" Target="../media/image19.jpg"/><Relationship Id="rId10" Type="http://schemas.openxmlformats.org/officeDocument/2006/relationships/image" Target="../media/image13.svg"/><Relationship Id="rId4" Type="http://schemas.openxmlformats.org/officeDocument/2006/relationships/image" Target="../media/image2.png"/><Relationship Id="rId9" Type="http://schemas.openxmlformats.org/officeDocument/2006/relationships/image" Target="../media/image12.png"/><Relationship Id="rId1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Forma&#10;&#10;Descripción generada automáticamente con confianza baja">
            <a:extLst>
              <a:ext uri="{FF2B5EF4-FFF2-40B4-BE49-F238E27FC236}">
                <a16:creationId xmlns:a16="http://schemas.microsoft.com/office/drawing/2014/main" id="{266E434B-B435-4760-ABF7-CFA50AAA9D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E50A7932-4AB6-4984-8782-25EFACD6E8FA}"/>
              </a:ext>
            </a:extLst>
          </p:cNvPr>
          <p:cNvSpPr/>
          <p:nvPr/>
        </p:nvSpPr>
        <p:spPr>
          <a:xfrm>
            <a:off x="0" y="0"/>
            <a:ext cx="12192000" cy="6488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Rectángulo 4">
            <a:extLst>
              <a:ext uri="{FF2B5EF4-FFF2-40B4-BE49-F238E27FC236}">
                <a16:creationId xmlns:a16="http://schemas.microsoft.com/office/drawing/2014/main" id="{EB802B82-EB32-4012-AFD5-387A6F9120CC}"/>
              </a:ext>
            </a:extLst>
          </p:cNvPr>
          <p:cNvSpPr/>
          <p:nvPr/>
        </p:nvSpPr>
        <p:spPr>
          <a:xfrm>
            <a:off x="0" y="0"/>
            <a:ext cx="12192000" cy="70145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6" name="Imagen 5">
            <a:hlinkClick r:id="rId3" action="ppaction://hlinksldjump"/>
            <a:extLst>
              <a:ext uri="{FF2B5EF4-FFF2-40B4-BE49-F238E27FC236}">
                <a16:creationId xmlns:a16="http://schemas.microsoft.com/office/drawing/2014/main" id="{D7254EC1-DD36-4EC4-BCC5-EC59551143A2}"/>
              </a:ext>
            </a:extLst>
          </p:cNvPr>
          <p:cNvPicPr>
            <a:picLocks noChangeAspect="1"/>
          </p:cNvPicPr>
          <p:nvPr/>
        </p:nvPicPr>
        <p:blipFill rotWithShape="1">
          <a:blip r:embed="rId4">
            <a:clrChange>
              <a:clrFrom>
                <a:srgbClr val="000000"/>
              </a:clrFrom>
              <a:clrTo>
                <a:srgbClr val="000000">
                  <a:alpha val="0"/>
                </a:srgbClr>
              </a:clrTo>
            </a:clrChange>
          </a:blip>
          <a:srcRect t="20117" b="23156"/>
          <a:stretch/>
        </p:blipFill>
        <p:spPr>
          <a:xfrm>
            <a:off x="851769" y="0"/>
            <a:ext cx="2198319" cy="701458"/>
          </a:xfrm>
          <a:prstGeom prst="rect">
            <a:avLst/>
          </a:prstGeom>
        </p:spPr>
      </p:pic>
      <p:pic>
        <p:nvPicPr>
          <p:cNvPr id="7" name="Gráfico 6" descr="Icono de menú de hamburguesa con relleno sólido">
            <a:extLst>
              <a:ext uri="{FF2B5EF4-FFF2-40B4-BE49-F238E27FC236}">
                <a16:creationId xmlns:a16="http://schemas.microsoft.com/office/drawing/2014/main" id="{79E35B25-94D9-4898-8BCB-3D8F110693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6826" y="51670"/>
            <a:ext cx="598118" cy="598118"/>
          </a:xfrm>
          <a:prstGeom prst="rect">
            <a:avLst/>
          </a:prstGeom>
        </p:spPr>
      </p:pic>
      <p:sp>
        <p:nvSpPr>
          <p:cNvPr id="9" name="Diagrama de flujo: conector 8">
            <a:extLst>
              <a:ext uri="{FF2B5EF4-FFF2-40B4-BE49-F238E27FC236}">
                <a16:creationId xmlns:a16="http://schemas.microsoft.com/office/drawing/2014/main" id="{FAE251DD-36A1-4608-A0E4-852756F391F4}"/>
              </a:ext>
            </a:extLst>
          </p:cNvPr>
          <p:cNvSpPr/>
          <p:nvPr/>
        </p:nvSpPr>
        <p:spPr>
          <a:xfrm>
            <a:off x="11559959" y="122129"/>
            <a:ext cx="457200" cy="457200"/>
          </a:xfrm>
          <a:prstGeom prst="flowChartConnec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0" name="Gráfico 9" descr="Timbre con relleno sólido">
            <a:extLst>
              <a:ext uri="{FF2B5EF4-FFF2-40B4-BE49-F238E27FC236}">
                <a16:creationId xmlns:a16="http://schemas.microsoft.com/office/drawing/2014/main" id="{73019F7E-8A79-4AA8-BDD3-3F5DA42E7A6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27918" y="122129"/>
            <a:ext cx="457200" cy="457200"/>
          </a:xfrm>
          <a:prstGeom prst="rect">
            <a:avLst/>
          </a:prstGeom>
        </p:spPr>
      </p:pic>
      <p:pic>
        <p:nvPicPr>
          <p:cNvPr id="13" name="Gráfico 12" descr="Tabla con relleno sólido">
            <a:extLst>
              <a:ext uri="{FF2B5EF4-FFF2-40B4-BE49-F238E27FC236}">
                <a16:creationId xmlns:a16="http://schemas.microsoft.com/office/drawing/2014/main" id="{F0D85368-BC72-4BBD-87F5-2096EC5319A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83298" y="0"/>
            <a:ext cx="457200" cy="701458"/>
          </a:xfrm>
          <a:prstGeom prst="rect">
            <a:avLst/>
          </a:prstGeom>
        </p:spPr>
      </p:pic>
      <p:sp>
        <p:nvSpPr>
          <p:cNvPr id="14" name="Rectángulo 13">
            <a:extLst>
              <a:ext uri="{FF2B5EF4-FFF2-40B4-BE49-F238E27FC236}">
                <a16:creationId xmlns:a16="http://schemas.microsoft.com/office/drawing/2014/main" id="{D7DAB2B2-4F33-41C5-B2C3-1C53EE5F8D3F}"/>
              </a:ext>
            </a:extLst>
          </p:cNvPr>
          <p:cNvSpPr/>
          <p:nvPr/>
        </p:nvSpPr>
        <p:spPr>
          <a:xfrm>
            <a:off x="3332185" y="203548"/>
            <a:ext cx="4980150" cy="35072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Rectángulo 14">
            <a:extLst>
              <a:ext uri="{FF2B5EF4-FFF2-40B4-BE49-F238E27FC236}">
                <a16:creationId xmlns:a16="http://schemas.microsoft.com/office/drawing/2014/main" id="{E461CB1F-BC27-4293-B4F8-6EAD80CD8400}"/>
              </a:ext>
            </a:extLst>
          </p:cNvPr>
          <p:cNvSpPr/>
          <p:nvPr/>
        </p:nvSpPr>
        <p:spPr>
          <a:xfrm>
            <a:off x="8312335" y="203548"/>
            <a:ext cx="719461" cy="350729"/>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6" name="Gráfico 15" descr="Lupa con relleno sólido">
            <a:extLst>
              <a:ext uri="{FF2B5EF4-FFF2-40B4-BE49-F238E27FC236}">
                <a16:creationId xmlns:a16="http://schemas.microsoft.com/office/drawing/2014/main" id="{00ACCE59-0664-4DBB-AB78-5169EAB3C07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523973" y="230819"/>
            <a:ext cx="296185" cy="296185"/>
          </a:xfrm>
          <a:prstGeom prst="rect">
            <a:avLst/>
          </a:prstGeom>
        </p:spPr>
      </p:pic>
      <p:sp>
        <p:nvSpPr>
          <p:cNvPr id="2" name="Rectángulo 1">
            <a:extLst>
              <a:ext uri="{FF2B5EF4-FFF2-40B4-BE49-F238E27FC236}">
                <a16:creationId xmlns:a16="http://schemas.microsoft.com/office/drawing/2014/main" id="{33A22F9C-BBAE-453D-AEC4-DA2D8B1CDBB9}"/>
              </a:ext>
            </a:extLst>
          </p:cNvPr>
          <p:cNvSpPr/>
          <p:nvPr/>
        </p:nvSpPr>
        <p:spPr>
          <a:xfrm>
            <a:off x="0" y="701458"/>
            <a:ext cx="12192000" cy="1089764"/>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ángulo 7">
            <a:extLst>
              <a:ext uri="{FF2B5EF4-FFF2-40B4-BE49-F238E27FC236}">
                <a16:creationId xmlns:a16="http://schemas.microsoft.com/office/drawing/2014/main" id="{B26BEDEB-2137-4EA1-B5C7-38268AF9CE02}"/>
              </a:ext>
            </a:extLst>
          </p:cNvPr>
          <p:cNvSpPr/>
          <p:nvPr/>
        </p:nvSpPr>
        <p:spPr>
          <a:xfrm>
            <a:off x="0" y="1791221"/>
            <a:ext cx="12192000" cy="1277655"/>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10">
            <a:extLst>
              <a:ext uri="{FF2B5EF4-FFF2-40B4-BE49-F238E27FC236}">
                <a16:creationId xmlns:a16="http://schemas.microsoft.com/office/drawing/2014/main" id="{0278BA3E-5CC6-44F0-B668-C0D907BC76E2}"/>
              </a:ext>
            </a:extLst>
          </p:cNvPr>
          <p:cNvSpPr/>
          <p:nvPr/>
        </p:nvSpPr>
        <p:spPr>
          <a:xfrm>
            <a:off x="0" y="3068876"/>
            <a:ext cx="12192000" cy="340708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Diagrama de flujo: conector 11">
            <a:extLst>
              <a:ext uri="{FF2B5EF4-FFF2-40B4-BE49-F238E27FC236}">
                <a16:creationId xmlns:a16="http://schemas.microsoft.com/office/drawing/2014/main" id="{D49B5D43-CEF6-4E82-84D8-F6AB1B7732F6}"/>
              </a:ext>
            </a:extLst>
          </p:cNvPr>
          <p:cNvSpPr/>
          <p:nvPr/>
        </p:nvSpPr>
        <p:spPr>
          <a:xfrm>
            <a:off x="300623" y="1913351"/>
            <a:ext cx="1102291" cy="1027134"/>
          </a:xfrm>
          <a:prstGeom prst="flowChartConnector">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CuadroTexto 17">
            <a:extLst>
              <a:ext uri="{FF2B5EF4-FFF2-40B4-BE49-F238E27FC236}">
                <a16:creationId xmlns:a16="http://schemas.microsoft.com/office/drawing/2014/main" id="{780B7F1A-4F91-4C1D-B54E-A40D2BAC3AAF}"/>
              </a:ext>
            </a:extLst>
          </p:cNvPr>
          <p:cNvSpPr txBox="1"/>
          <p:nvPr/>
        </p:nvSpPr>
        <p:spPr>
          <a:xfrm>
            <a:off x="1563411" y="1845273"/>
            <a:ext cx="4158641" cy="584775"/>
          </a:xfrm>
          <a:prstGeom prst="rect">
            <a:avLst/>
          </a:prstGeom>
          <a:noFill/>
        </p:spPr>
        <p:txBody>
          <a:bodyPr wrap="square" rtlCol="0">
            <a:spAutoFit/>
          </a:bodyPr>
          <a:lstStyle/>
          <a:p>
            <a:r>
              <a:rPr lang="es-MX" sz="3200" dirty="0">
                <a:latin typeface="Bahnschrift" panose="020B0502040204020203" pitchFamily="34" charset="0"/>
                <a:ea typeface="K26AlphaCasual" panose="02000603000000000000" pitchFamily="2" charset="0"/>
              </a:rPr>
              <a:t>CIENTICERO </a:t>
            </a:r>
          </a:p>
        </p:txBody>
      </p:sp>
      <p:sp>
        <p:nvSpPr>
          <p:cNvPr id="19" name="CuadroTexto 18">
            <a:extLst>
              <a:ext uri="{FF2B5EF4-FFF2-40B4-BE49-F238E27FC236}">
                <a16:creationId xmlns:a16="http://schemas.microsoft.com/office/drawing/2014/main" id="{857C0DBC-0A3C-4BC1-8A4D-896756EFE206}"/>
              </a:ext>
            </a:extLst>
          </p:cNvPr>
          <p:cNvSpPr txBox="1"/>
          <p:nvPr/>
        </p:nvSpPr>
        <p:spPr>
          <a:xfrm>
            <a:off x="1603332" y="2389618"/>
            <a:ext cx="2893512" cy="369332"/>
          </a:xfrm>
          <a:prstGeom prst="rect">
            <a:avLst/>
          </a:prstGeom>
          <a:noFill/>
        </p:spPr>
        <p:txBody>
          <a:bodyPr wrap="square" rtlCol="0">
            <a:spAutoFit/>
          </a:bodyPr>
          <a:lstStyle/>
          <a:p>
            <a:r>
              <a:rPr lang="es-MX" dirty="0">
                <a:latin typeface="HP Simplified" panose="020B0604020204020204" pitchFamily="34" charset="0"/>
              </a:rPr>
              <a:t>1.1 M suscriptores</a:t>
            </a:r>
          </a:p>
        </p:txBody>
      </p:sp>
      <p:sp>
        <p:nvSpPr>
          <p:cNvPr id="20" name="Rectángulo 19">
            <a:extLst>
              <a:ext uri="{FF2B5EF4-FFF2-40B4-BE49-F238E27FC236}">
                <a16:creationId xmlns:a16="http://schemas.microsoft.com/office/drawing/2014/main" id="{3125D488-F8D9-4568-ABB8-1C765EFC2871}"/>
              </a:ext>
            </a:extLst>
          </p:cNvPr>
          <p:cNvSpPr/>
          <p:nvPr/>
        </p:nvSpPr>
        <p:spPr>
          <a:xfrm>
            <a:off x="9102005" y="2257644"/>
            <a:ext cx="1741118" cy="338548"/>
          </a:xfrm>
          <a:prstGeom prst="rect">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latin typeface="Bahnschrift" panose="020B0502040204020203" pitchFamily="34" charset="0"/>
              </a:rPr>
              <a:t>Suscribirse</a:t>
            </a:r>
          </a:p>
        </p:txBody>
      </p:sp>
      <p:pic>
        <p:nvPicPr>
          <p:cNvPr id="21" name="Gráfico 20" descr="Timbre con relleno sólido">
            <a:extLst>
              <a:ext uri="{FF2B5EF4-FFF2-40B4-BE49-F238E27FC236}">
                <a16:creationId xmlns:a16="http://schemas.microsoft.com/office/drawing/2014/main" id="{355C3528-88CD-44B9-B54B-07BFF3E189E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35765" y="2192055"/>
            <a:ext cx="457200" cy="457200"/>
          </a:xfrm>
          <a:prstGeom prst="rect">
            <a:avLst/>
          </a:prstGeom>
        </p:spPr>
      </p:pic>
      <p:sp>
        <p:nvSpPr>
          <p:cNvPr id="23" name="CuadroTexto 22">
            <a:extLst>
              <a:ext uri="{FF2B5EF4-FFF2-40B4-BE49-F238E27FC236}">
                <a16:creationId xmlns:a16="http://schemas.microsoft.com/office/drawing/2014/main" id="{F7D40070-7AC4-4EC7-9705-6A48F855BAE4}"/>
              </a:ext>
            </a:extLst>
          </p:cNvPr>
          <p:cNvSpPr txBox="1"/>
          <p:nvPr/>
        </p:nvSpPr>
        <p:spPr>
          <a:xfrm>
            <a:off x="439371" y="4546853"/>
            <a:ext cx="3553216" cy="523220"/>
          </a:xfrm>
          <a:prstGeom prst="rect">
            <a:avLst/>
          </a:prstGeom>
          <a:noFill/>
        </p:spPr>
        <p:txBody>
          <a:bodyPr wrap="square" rtlCol="0">
            <a:spAutoFit/>
          </a:bodyPr>
          <a:lstStyle/>
          <a:p>
            <a:r>
              <a:rPr lang="es-MX" sz="2800" dirty="0">
                <a:latin typeface="Bahnschrift" panose="020B0502040204020203" pitchFamily="34" charset="0"/>
              </a:rPr>
              <a:t>Introducción.</a:t>
            </a:r>
          </a:p>
        </p:txBody>
      </p:sp>
      <p:sp>
        <p:nvSpPr>
          <p:cNvPr id="25" name="Rectángulo: esquinas redondeadas 24">
            <a:extLst>
              <a:ext uri="{FF2B5EF4-FFF2-40B4-BE49-F238E27FC236}">
                <a16:creationId xmlns:a16="http://schemas.microsoft.com/office/drawing/2014/main" id="{78B4BFE8-8A44-48A8-BA37-E7C9CB54B937}"/>
              </a:ext>
            </a:extLst>
          </p:cNvPr>
          <p:cNvSpPr/>
          <p:nvPr/>
        </p:nvSpPr>
        <p:spPr>
          <a:xfrm>
            <a:off x="5822260" y="3300521"/>
            <a:ext cx="6069117" cy="2943789"/>
          </a:xfrm>
          <a:prstGeom prst="roundRect">
            <a:avLst>
              <a:gd name="adj" fmla="val 688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CuadroTexto 26">
            <a:extLst>
              <a:ext uri="{FF2B5EF4-FFF2-40B4-BE49-F238E27FC236}">
                <a16:creationId xmlns:a16="http://schemas.microsoft.com/office/drawing/2014/main" id="{9F97CEF4-8C2D-487C-AA23-8C3CCF80CAE9}"/>
              </a:ext>
            </a:extLst>
          </p:cNvPr>
          <p:cNvSpPr txBox="1"/>
          <p:nvPr/>
        </p:nvSpPr>
        <p:spPr>
          <a:xfrm>
            <a:off x="5937599" y="3762851"/>
            <a:ext cx="5570706" cy="2000548"/>
          </a:xfrm>
          <a:prstGeom prst="rect">
            <a:avLst/>
          </a:prstGeom>
          <a:noFill/>
        </p:spPr>
        <p:txBody>
          <a:bodyPr wrap="square" rtlCol="0">
            <a:spAutoFit/>
          </a:bodyPr>
          <a:lstStyle/>
          <a:p>
            <a:r>
              <a:rPr lang="es-MX" dirty="0">
                <a:effectLst/>
                <a:latin typeface="Cambria" panose="02040503050406030204" pitchFamily="18" charset="0"/>
                <a:ea typeface="MS Mincho" panose="02020609040205080304" pitchFamily="49" charset="-128"/>
                <a:cs typeface="Times New Roman" panose="02020603050405020304" pitchFamily="18" charset="0"/>
              </a:rPr>
              <a:t>Las leyes ponderales explican cómo las sustancias se combinan en una reacción química según sus masas. En el experimento de formación del óxido de cobre, estas leyes permiten entender la relación entre el cobre y el oxígeno, mostrando que la masa se conserva y que los elementos se combinan en proporciones fijas.</a:t>
            </a:r>
            <a:endParaRPr lang="es-BO"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MX" sz="1600" dirty="0">
              <a:latin typeface="HP Simplified" panose="020B0604020204020204" pitchFamily="34" charset="0"/>
            </a:endParaRPr>
          </a:p>
        </p:txBody>
      </p:sp>
      <p:sp>
        <p:nvSpPr>
          <p:cNvPr id="28" name="CuadroTexto 27">
            <a:extLst>
              <a:ext uri="{FF2B5EF4-FFF2-40B4-BE49-F238E27FC236}">
                <a16:creationId xmlns:a16="http://schemas.microsoft.com/office/drawing/2014/main" id="{1B924A9E-8742-4A84-B0C2-92A0787BCD68}"/>
              </a:ext>
            </a:extLst>
          </p:cNvPr>
          <p:cNvSpPr txBox="1"/>
          <p:nvPr/>
        </p:nvSpPr>
        <p:spPr>
          <a:xfrm>
            <a:off x="3332185" y="191208"/>
            <a:ext cx="6098240" cy="369332"/>
          </a:xfrm>
          <a:prstGeom prst="rect">
            <a:avLst/>
          </a:prstGeom>
          <a:noFill/>
        </p:spPr>
        <p:txBody>
          <a:bodyPr wrap="square">
            <a:spAutoFit/>
          </a:bodyPr>
          <a:lstStyle/>
          <a:p>
            <a:r>
              <a:rPr lang="es-MX" sz="1800" b="1" i="0" u="none" strike="noStrike" baseline="0" dirty="0">
                <a:latin typeface="Arial" panose="020B0604020202020204" pitchFamily="34" charset="0"/>
              </a:rPr>
              <a:t>Formación del óxido de cobre</a:t>
            </a:r>
            <a:endParaRPr lang="es-BO" dirty="0"/>
          </a:p>
        </p:txBody>
      </p:sp>
    </p:spTree>
    <p:extLst>
      <p:ext uri="{BB962C8B-B14F-4D97-AF65-F5344CB8AC3E}">
        <p14:creationId xmlns:p14="http://schemas.microsoft.com/office/powerpoint/2010/main" val="2753519710"/>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Forma&#10;&#10;Descripción generada automáticamente con confianza baja">
            <a:extLst>
              <a:ext uri="{FF2B5EF4-FFF2-40B4-BE49-F238E27FC236}">
                <a16:creationId xmlns:a16="http://schemas.microsoft.com/office/drawing/2014/main" id="{53537AAC-C548-48A0-AB9F-8B275526D1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59251C6C-AAB6-4CA7-B5D3-1B7DD78690C8}"/>
              </a:ext>
            </a:extLst>
          </p:cNvPr>
          <p:cNvSpPr/>
          <p:nvPr/>
        </p:nvSpPr>
        <p:spPr>
          <a:xfrm>
            <a:off x="0" y="0"/>
            <a:ext cx="12192000" cy="6488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Rectángulo 4">
            <a:extLst>
              <a:ext uri="{FF2B5EF4-FFF2-40B4-BE49-F238E27FC236}">
                <a16:creationId xmlns:a16="http://schemas.microsoft.com/office/drawing/2014/main" id="{D6728DBD-6A7E-454F-9B95-C5A7E8050341}"/>
              </a:ext>
            </a:extLst>
          </p:cNvPr>
          <p:cNvSpPr/>
          <p:nvPr/>
        </p:nvSpPr>
        <p:spPr>
          <a:xfrm>
            <a:off x="0" y="0"/>
            <a:ext cx="12192000" cy="70145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7" name="Imagen 6">
            <a:hlinkClick r:id="rId3" action="ppaction://hlinksldjump"/>
            <a:extLst>
              <a:ext uri="{FF2B5EF4-FFF2-40B4-BE49-F238E27FC236}">
                <a16:creationId xmlns:a16="http://schemas.microsoft.com/office/drawing/2014/main" id="{09548E36-00DE-4D0E-92CC-0303B3E820EF}"/>
              </a:ext>
            </a:extLst>
          </p:cNvPr>
          <p:cNvPicPr>
            <a:picLocks noChangeAspect="1"/>
          </p:cNvPicPr>
          <p:nvPr/>
        </p:nvPicPr>
        <p:blipFill rotWithShape="1">
          <a:blip r:embed="rId4">
            <a:clrChange>
              <a:clrFrom>
                <a:srgbClr val="000000"/>
              </a:clrFrom>
              <a:clrTo>
                <a:srgbClr val="000000">
                  <a:alpha val="0"/>
                </a:srgbClr>
              </a:clrTo>
            </a:clrChange>
          </a:blip>
          <a:srcRect t="20117" b="23156"/>
          <a:stretch/>
        </p:blipFill>
        <p:spPr>
          <a:xfrm>
            <a:off x="851769" y="0"/>
            <a:ext cx="2198319" cy="701458"/>
          </a:xfrm>
          <a:prstGeom prst="rect">
            <a:avLst/>
          </a:prstGeom>
        </p:spPr>
      </p:pic>
      <p:pic>
        <p:nvPicPr>
          <p:cNvPr id="8" name="Gráfico 7" descr="Icono de menú de hamburguesa con relleno sólido">
            <a:extLst>
              <a:ext uri="{FF2B5EF4-FFF2-40B4-BE49-F238E27FC236}">
                <a16:creationId xmlns:a16="http://schemas.microsoft.com/office/drawing/2014/main" id="{49F619C3-857A-401F-B55B-5D02237F1FF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6826" y="51670"/>
            <a:ext cx="598118" cy="598118"/>
          </a:xfrm>
          <a:prstGeom prst="rect">
            <a:avLst/>
          </a:prstGeom>
        </p:spPr>
      </p:pic>
      <p:sp>
        <p:nvSpPr>
          <p:cNvPr id="9" name="Diagrama de flujo: conector 8">
            <a:extLst>
              <a:ext uri="{FF2B5EF4-FFF2-40B4-BE49-F238E27FC236}">
                <a16:creationId xmlns:a16="http://schemas.microsoft.com/office/drawing/2014/main" id="{64F74439-152F-42C6-A091-3F28F35AEACE}"/>
              </a:ext>
            </a:extLst>
          </p:cNvPr>
          <p:cNvSpPr/>
          <p:nvPr/>
        </p:nvSpPr>
        <p:spPr>
          <a:xfrm>
            <a:off x="11559959" y="122129"/>
            <a:ext cx="457200" cy="457200"/>
          </a:xfrm>
          <a:prstGeom prst="flowChartConnec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0" name="Gráfico 9" descr="Timbre con relleno sólido">
            <a:extLst>
              <a:ext uri="{FF2B5EF4-FFF2-40B4-BE49-F238E27FC236}">
                <a16:creationId xmlns:a16="http://schemas.microsoft.com/office/drawing/2014/main" id="{A742E670-ABCF-4B58-8144-579DB90F9BD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27918" y="122129"/>
            <a:ext cx="457200" cy="457200"/>
          </a:xfrm>
          <a:prstGeom prst="rect">
            <a:avLst/>
          </a:prstGeom>
        </p:spPr>
      </p:pic>
      <p:pic>
        <p:nvPicPr>
          <p:cNvPr id="11" name="Gráfico 10" descr="Tabla con relleno sólido">
            <a:extLst>
              <a:ext uri="{FF2B5EF4-FFF2-40B4-BE49-F238E27FC236}">
                <a16:creationId xmlns:a16="http://schemas.microsoft.com/office/drawing/2014/main" id="{87797232-E737-4C4B-8C68-5E2F9D5D9DC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383298" y="0"/>
            <a:ext cx="457200" cy="701458"/>
          </a:xfrm>
          <a:prstGeom prst="rect">
            <a:avLst/>
          </a:prstGeom>
        </p:spPr>
      </p:pic>
      <p:pic>
        <p:nvPicPr>
          <p:cNvPr id="12" name="Gráfico 11" descr="Flecha arriba contorno">
            <a:extLst>
              <a:ext uri="{FF2B5EF4-FFF2-40B4-BE49-F238E27FC236}">
                <a16:creationId xmlns:a16="http://schemas.microsoft.com/office/drawing/2014/main" id="{4E884610-3CD1-49FD-B965-80F3BEEFD5A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751257" y="122129"/>
            <a:ext cx="457200" cy="457200"/>
          </a:xfrm>
          <a:prstGeom prst="rect">
            <a:avLst/>
          </a:prstGeom>
        </p:spPr>
      </p:pic>
      <p:sp>
        <p:nvSpPr>
          <p:cNvPr id="13" name="Rectángulo 12">
            <a:extLst>
              <a:ext uri="{FF2B5EF4-FFF2-40B4-BE49-F238E27FC236}">
                <a16:creationId xmlns:a16="http://schemas.microsoft.com/office/drawing/2014/main" id="{3E78016D-2C50-4BA1-B8FD-E9416575529D}"/>
              </a:ext>
            </a:extLst>
          </p:cNvPr>
          <p:cNvSpPr/>
          <p:nvPr/>
        </p:nvSpPr>
        <p:spPr>
          <a:xfrm>
            <a:off x="3332185" y="203548"/>
            <a:ext cx="4980150" cy="35072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a:extLst>
              <a:ext uri="{FF2B5EF4-FFF2-40B4-BE49-F238E27FC236}">
                <a16:creationId xmlns:a16="http://schemas.microsoft.com/office/drawing/2014/main" id="{3E3FBAF3-08B7-423B-AFCD-9BEB6B8C9A6B}"/>
              </a:ext>
            </a:extLst>
          </p:cNvPr>
          <p:cNvSpPr/>
          <p:nvPr/>
        </p:nvSpPr>
        <p:spPr>
          <a:xfrm>
            <a:off x="8312335" y="203548"/>
            <a:ext cx="719461" cy="350729"/>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5" name="Gráfico 14" descr="Lupa con relleno sólido">
            <a:extLst>
              <a:ext uri="{FF2B5EF4-FFF2-40B4-BE49-F238E27FC236}">
                <a16:creationId xmlns:a16="http://schemas.microsoft.com/office/drawing/2014/main" id="{422C4E7E-E41D-4B25-854A-86DC3212CE7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23973" y="230819"/>
            <a:ext cx="296185" cy="296185"/>
          </a:xfrm>
          <a:prstGeom prst="rect">
            <a:avLst/>
          </a:prstGeom>
        </p:spPr>
      </p:pic>
      <p:sp>
        <p:nvSpPr>
          <p:cNvPr id="16" name="CuadroTexto 15">
            <a:extLst>
              <a:ext uri="{FF2B5EF4-FFF2-40B4-BE49-F238E27FC236}">
                <a16:creationId xmlns:a16="http://schemas.microsoft.com/office/drawing/2014/main" id="{E4EB66DD-107D-4913-B007-E8C83E6DAB2E}"/>
              </a:ext>
            </a:extLst>
          </p:cNvPr>
          <p:cNvSpPr txBox="1"/>
          <p:nvPr/>
        </p:nvSpPr>
        <p:spPr>
          <a:xfrm>
            <a:off x="3332185" y="169463"/>
            <a:ext cx="2605414" cy="400110"/>
          </a:xfrm>
          <a:prstGeom prst="rect">
            <a:avLst/>
          </a:prstGeom>
          <a:noFill/>
        </p:spPr>
        <p:txBody>
          <a:bodyPr wrap="square" rtlCol="0">
            <a:spAutoFit/>
          </a:bodyPr>
          <a:lstStyle/>
          <a:p>
            <a:r>
              <a:rPr lang="es-MX" sz="2000" dirty="0">
                <a:latin typeface="K26AlphaCasual" panose="02000603000000000000" pitchFamily="2" charset="0"/>
                <a:ea typeface="K26AlphaCasual" panose="02000603000000000000" pitchFamily="2" charset="0"/>
              </a:rPr>
              <a:t>Buscar.</a:t>
            </a:r>
          </a:p>
        </p:txBody>
      </p:sp>
      <p:sp>
        <p:nvSpPr>
          <p:cNvPr id="2" name="Rectángulo 1">
            <a:extLst>
              <a:ext uri="{FF2B5EF4-FFF2-40B4-BE49-F238E27FC236}">
                <a16:creationId xmlns:a16="http://schemas.microsoft.com/office/drawing/2014/main" id="{AB55FFA0-8FED-472E-964F-AC1FB1E78086}"/>
              </a:ext>
            </a:extLst>
          </p:cNvPr>
          <p:cNvSpPr/>
          <p:nvPr/>
        </p:nvSpPr>
        <p:spPr>
          <a:xfrm>
            <a:off x="274918" y="893677"/>
            <a:ext cx="8397147" cy="382633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16">
            <a:extLst>
              <a:ext uri="{FF2B5EF4-FFF2-40B4-BE49-F238E27FC236}">
                <a16:creationId xmlns:a16="http://schemas.microsoft.com/office/drawing/2014/main" id="{27337995-BFE2-40BE-A3F9-2CBA16635064}"/>
              </a:ext>
            </a:extLst>
          </p:cNvPr>
          <p:cNvSpPr/>
          <p:nvPr/>
        </p:nvSpPr>
        <p:spPr>
          <a:xfrm>
            <a:off x="9081622" y="930058"/>
            <a:ext cx="2764871" cy="150938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a:extLst>
              <a:ext uri="{FF2B5EF4-FFF2-40B4-BE49-F238E27FC236}">
                <a16:creationId xmlns:a16="http://schemas.microsoft.com/office/drawing/2014/main" id="{49DED7D3-7004-46F0-A74B-F679DC55FACE}"/>
              </a:ext>
            </a:extLst>
          </p:cNvPr>
          <p:cNvSpPr/>
          <p:nvPr/>
        </p:nvSpPr>
        <p:spPr>
          <a:xfrm>
            <a:off x="9081622" y="2912301"/>
            <a:ext cx="2764871" cy="150938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18">
            <a:hlinkClick r:id="rId15" action="ppaction://hlinksldjump"/>
            <a:extLst>
              <a:ext uri="{FF2B5EF4-FFF2-40B4-BE49-F238E27FC236}">
                <a16:creationId xmlns:a16="http://schemas.microsoft.com/office/drawing/2014/main" id="{F1EF3190-B441-4391-837E-302B36C8225E}"/>
              </a:ext>
            </a:extLst>
          </p:cNvPr>
          <p:cNvSpPr/>
          <p:nvPr/>
        </p:nvSpPr>
        <p:spPr>
          <a:xfrm>
            <a:off x="9081621" y="4888882"/>
            <a:ext cx="2764871" cy="150938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0" name="Diagrama de flujo: conector 19">
            <a:extLst>
              <a:ext uri="{FF2B5EF4-FFF2-40B4-BE49-F238E27FC236}">
                <a16:creationId xmlns:a16="http://schemas.microsoft.com/office/drawing/2014/main" id="{90A2200A-D5B1-4789-A64A-0B1F75617372}"/>
              </a:ext>
            </a:extLst>
          </p:cNvPr>
          <p:cNvSpPr/>
          <p:nvPr/>
        </p:nvSpPr>
        <p:spPr>
          <a:xfrm>
            <a:off x="292796" y="5355478"/>
            <a:ext cx="457200" cy="457200"/>
          </a:xfrm>
          <a:prstGeom prst="flowChartConnector">
            <a:avLst/>
          </a:prstGeom>
          <a:blipFill dpi="0" rotWithShape="1">
            <a:blip r:embed="rId16">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2" name="Conector recto 21">
            <a:extLst>
              <a:ext uri="{FF2B5EF4-FFF2-40B4-BE49-F238E27FC236}">
                <a16:creationId xmlns:a16="http://schemas.microsoft.com/office/drawing/2014/main" id="{302FE9DB-776E-4421-88DC-DE2CC3337A6A}"/>
              </a:ext>
            </a:extLst>
          </p:cNvPr>
          <p:cNvCxnSpPr/>
          <p:nvPr/>
        </p:nvCxnSpPr>
        <p:spPr>
          <a:xfrm>
            <a:off x="338968" y="5270323"/>
            <a:ext cx="832655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51284CCF-8195-433F-BE4E-69DA8F053353}"/>
              </a:ext>
            </a:extLst>
          </p:cNvPr>
          <p:cNvSpPr txBox="1"/>
          <p:nvPr/>
        </p:nvSpPr>
        <p:spPr>
          <a:xfrm>
            <a:off x="851769" y="5413037"/>
            <a:ext cx="1741118" cy="461665"/>
          </a:xfrm>
          <a:prstGeom prst="rect">
            <a:avLst/>
          </a:prstGeom>
          <a:noFill/>
        </p:spPr>
        <p:txBody>
          <a:bodyPr wrap="square" rtlCol="0">
            <a:spAutoFit/>
          </a:bodyPr>
          <a:lstStyle/>
          <a:p>
            <a:r>
              <a:rPr lang="es-MX" sz="2400" b="1" i="1" dirty="0">
                <a:solidFill>
                  <a:schemeClr val="bg2">
                    <a:lumMod val="10000"/>
                  </a:schemeClr>
                </a:solidFill>
                <a:effectLst>
                  <a:outerShdw blurRad="38100" dist="38100" dir="2700000" algn="tl">
                    <a:srgbClr val="000000">
                      <a:alpha val="43137"/>
                    </a:srgbClr>
                  </a:outerShdw>
                </a:effectLst>
                <a:latin typeface="HP Simplified" panose="020B0604020204020204" pitchFamily="34" charset="0"/>
              </a:rPr>
              <a:t>CIENTICERO</a:t>
            </a:r>
          </a:p>
        </p:txBody>
      </p:sp>
      <p:sp>
        <p:nvSpPr>
          <p:cNvPr id="28" name="CuadroTexto 27">
            <a:extLst>
              <a:ext uri="{FF2B5EF4-FFF2-40B4-BE49-F238E27FC236}">
                <a16:creationId xmlns:a16="http://schemas.microsoft.com/office/drawing/2014/main" id="{316EC763-8BDB-4630-984F-A6239480F810}"/>
              </a:ext>
            </a:extLst>
          </p:cNvPr>
          <p:cNvSpPr txBox="1"/>
          <p:nvPr/>
        </p:nvSpPr>
        <p:spPr>
          <a:xfrm>
            <a:off x="224598" y="1587676"/>
            <a:ext cx="8497785" cy="1384995"/>
          </a:xfrm>
          <a:prstGeom prst="rect">
            <a:avLst/>
          </a:prstGeom>
          <a:noFill/>
        </p:spPr>
        <p:txBody>
          <a:bodyPr wrap="square" rtlCol="0">
            <a:spAutoFit/>
          </a:bodyPr>
          <a:lstStyle/>
          <a:p>
            <a:r>
              <a:rPr lang="es-MX" sz="2800" dirty="0">
                <a:latin typeface="HP Simplified" panose="020B0604020204020204" pitchFamily="34" charset="0"/>
              </a:rPr>
              <a:t>Comprobar que al formarse óxidos la masa se conserva y que el oxígeno se combina en proporciones fijas con el cobre.</a:t>
            </a:r>
          </a:p>
        </p:txBody>
      </p:sp>
      <p:sp>
        <p:nvSpPr>
          <p:cNvPr id="34" name="Rectángulo 33">
            <a:extLst>
              <a:ext uri="{FF2B5EF4-FFF2-40B4-BE49-F238E27FC236}">
                <a16:creationId xmlns:a16="http://schemas.microsoft.com/office/drawing/2014/main" id="{A47B4A75-DEB7-49D5-AAA6-EE87AE6B87DD}"/>
              </a:ext>
            </a:extLst>
          </p:cNvPr>
          <p:cNvSpPr/>
          <p:nvPr/>
        </p:nvSpPr>
        <p:spPr>
          <a:xfrm>
            <a:off x="6901841" y="5270323"/>
            <a:ext cx="1741118" cy="338548"/>
          </a:xfrm>
          <a:prstGeom prst="rect">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latin typeface="Bahnschrift" panose="020B0502040204020203" pitchFamily="34" charset="0"/>
              </a:rPr>
              <a:t>Suscribirse</a:t>
            </a:r>
          </a:p>
        </p:txBody>
      </p:sp>
      <p:pic>
        <p:nvPicPr>
          <p:cNvPr id="35" name="Gráfico 34" descr="Señal de pulgar hacia arriba  con relleno sólido">
            <a:extLst>
              <a:ext uri="{FF2B5EF4-FFF2-40B4-BE49-F238E27FC236}">
                <a16:creationId xmlns:a16="http://schemas.microsoft.com/office/drawing/2014/main" id="{1EA5684D-A1CF-4E96-90C2-5D27637FF79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901841" y="4931776"/>
            <a:ext cx="276999" cy="276999"/>
          </a:xfrm>
          <a:prstGeom prst="rect">
            <a:avLst/>
          </a:prstGeom>
        </p:spPr>
      </p:pic>
      <p:pic>
        <p:nvPicPr>
          <p:cNvPr id="38" name="Gráfico 37" descr="Señal de pulgar hacia arriba  con relleno sólido">
            <a:extLst>
              <a:ext uri="{FF2B5EF4-FFF2-40B4-BE49-F238E27FC236}">
                <a16:creationId xmlns:a16="http://schemas.microsoft.com/office/drawing/2014/main" id="{1DCCD1FE-CC32-4A93-82D4-7DD40BD6E78D}"/>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10800000">
            <a:off x="7340501" y="4946010"/>
            <a:ext cx="276999" cy="276999"/>
          </a:xfrm>
          <a:prstGeom prst="rect">
            <a:avLst/>
          </a:prstGeom>
        </p:spPr>
      </p:pic>
      <p:sp>
        <p:nvSpPr>
          <p:cNvPr id="32" name="CuadroTexto 31">
            <a:extLst>
              <a:ext uri="{FF2B5EF4-FFF2-40B4-BE49-F238E27FC236}">
                <a16:creationId xmlns:a16="http://schemas.microsoft.com/office/drawing/2014/main" id="{F8D42992-A9D2-48A0-9552-A769DA05E303}"/>
              </a:ext>
            </a:extLst>
          </p:cNvPr>
          <p:cNvSpPr txBox="1"/>
          <p:nvPr/>
        </p:nvSpPr>
        <p:spPr>
          <a:xfrm>
            <a:off x="257478" y="847934"/>
            <a:ext cx="6165843" cy="1015663"/>
          </a:xfrm>
          <a:prstGeom prst="rect">
            <a:avLst/>
          </a:prstGeom>
          <a:noFill/>
        </p:spPr>
        <p:txBody>
          <a:bodyPr wrap="square" rtlCol="0">
            <a:spAutoFit/>
          </a:bodyPr>
          <a:lstStyle/>
          <a:p>
            <a:r>
              <a:rPr lang="es-MX" sz="6000" dirty="0">
                <a:solidFill>
                  <a:schemeClr val="bg1"/>
                </a:solidFill>
                <a:latin typeface="Aharoni" panose="02010803020104030203" pitchFamily="2" charset="-79"/>
                <a:cs typeface="Aharoni" panose="02010803020104030203" pitchFamily="2" charset="-79"/>
              </a:rPr>
              <a:t>OBJETIVO</a:t>
            </a:r>
          </a:p>
        </p:txBody>
      </p:sp>
      <p:sp>
        <p:nvSpPr>
          <p:cNvPr id="21" name="CuadroTexto 20">
            <a:extLst>
              <a:ext uri="{FF2B5EF4-FFF2-40B4-BE49-F238E27FC236}">
                <a16:creationId xmlns:a16="http://schemas.microsoft.com/office/drawing/2014/main" id="{CB5C90EA-050B-4A47-8249-CE70628D715A}"/>
              </a:ext>
            </a:extLst>
          </p:cNvPr>
          <p:cNvSpPr txBox="1"/>
          <p:nvPr/>
        </p:nvSpPr>
        <p:spPr>
          <a:xfrm>
            <a:off x="9081621" y="1497027"/>
            <a:ext cx="2684496" cy="923330"/>
          </a:xfrm>
          <a:prstGeom prst="rect">
            <a:avLst/>
          </a:prstGeom>
          <a:noFill/>
        </p:spPr>
        <p:txBody>
          <a:bodyPr wrap="square" rtlCol="0">
            <a:spAutoFit/>
          </a:bodyPr>
          <a:lstStyle/>
          <a:p>
            <a:r>
              <a:rPr lang="en-US" sz="1200" dirty="0">
                <a:effectLst/>
                <a:latin typeface="Cambria" panose="02040503050406030204" pitchFamily="18" charset="0"/>
                <a:ea typeface="MS Mincho" panose="02020609040205080304" pitchFamily="49" charset="-128"/>
                <a:cs typeface="Times New Roman" panose="02020603050405020304" pitchFamily="18" charset="0"/>
              </a:rPr>
              <a:t>Hilo o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tiras</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de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cobre</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limpio</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1–3 g.</a:t>
            </a:r>
          </a:p>
          <a:p>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Crisol</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o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cápsula</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de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porcelana</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(o una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taza</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metálica</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resistente</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 al </a:t>
            </a:r>
            <a:r>
              <a:rPr lang="en-US" sz="1200" dirty="0" err="1">
                <a:effectLst/>
                <a:latin typeface="Cambria" panose="02040503050406030204" pitchFamily="18" charset="0"/>
                <a:ea typeface="MS Mincho" panose="02020609040205080304" pitchFamily="49" charset="-128"/>
                <a:cs typeface="Times New Roman" panose="02020603050405020304" pitchFamily="18" charset="0"/>
              </a:rPr>
              <a:t>calor</a:t>
            </a:r>
            <a:r>
              <a:rPr lang="en-US" sz="1200" dirty="0">
                <a:effectLst/>
                <a:latin typeface="Cambria" panose="02040503050406030204" pitchFamily="18" charset="0"/>
                <a:ea typeface="MS Mincho" panose="02020609040205080304" pitchFamily="49" charset="-128"/>
                <a:cs typeface="Times New Roman" panose="02020603050405020304" pitchFamily="18" charset="0"/>
              </a:rPr>
              <a:t>).</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endParaRPr lang="es-BO" dirty="0"/>
          </a:p>
        </p:txBody>
      </p:sp>
      <p:sp>
        <p:nvSpPr>
          <p:cNvPr id="23" name="CuadroTexto 22">
            <a:extLst>
              <a:ext uri="{FF2B5EF4-FFF2-40B4-BE49-F238E27FC236}">
                <a16:creationId xmlns:a16="http://schemas.microsoft.com/office/drawing/2014/main" id="{204B6F6D-F91B-47FA-BBCB-1873D731A4FB}"/>
              </a:ext>
            </a:extLst>
          </p:cNvPr>
          <p:cNvSpPr txBox="1"/>
          <p:nvPr/>
        </p:nvSpPr>
        <p:spPr>
          <a:xfrm>
            <a:off x="9212000" y="3047854"/>
            <a:ext cx="2545998" cy="738664"/>
          </a:xfrm>
          <a:prstGeom prst="rect">
            <a:avLst/>
          </a:prstGeom>
          <a:noFill/>
        </p:spPr>
        <p:txBody>
          <a:bodyPr wrap="square" rtlCol="0">
            <a:spAutoFit/>
          </a:bodyPr>
          <a:lstStyle/>
          <a:p>
            <a:r>
              <a:rPr lang="es-MX" sz="1400" dirty="0"/>
              <a:t>Mechero Bunsen o placa eléctrica.</a:t>
            </a:r>
          </a:p>
          <a:p>
            <a:r>
              <a:rPr lang="es-MX" sz="1400" dirty="0"/>
              <a:t>Pinzas y soporte (o tenazas).</a:t>
            </a:r>
            <a:endParaRPr lang="es-BO" sz="1400" dirty="0"/>
          </a:p>
        </p:txBody>
      </p:sp>
      <p:sp>
        <p:nvSpPr>
          <p:cNvPr id="39" name="CuadroTexto 38">
            <a:extLst>
              <a:ext uri="{FF2B5EF4-FFF2-40B4-BE49-F238E27FC236}">
                <a16:creationId xmlns:a16="http://schemas.microsoft.com/office/drawing/2014/main" id="{09156C16-BA93-4F8D-8265-FC97971950D1}"/>
              </a:ext>
            </a:extLst>
          </p:cNvPr>
          <p:cNvSpPr txBox="1"/>
          <p:nvPr/>
        </p:nvSpPr>
        <p:spPr>
          <a:xfrm>
            <a:off x="9104188" y="4834417"/>
            <a:ext cx="2761622" cy="1604927"/>
          </a:xfrm>
          <a:prstGeom prst="rect">
            <a:avLst/>
          </a:prstGeom>
          <a:noFill/>
        </p:spPr>
        <p:txBody>
          <a:bodyPr wrap="square">
            <a:spAutoFit/>
          </a:bodyPr>
          <a:lstStyle/>
          <a:p>
            <a:pPr>
              <a:lnSpc>
                <a:spcPct val="115000"/>
              </a:lnSpc>
              <a:spcAft>
                <a:spcPts val="1000"/>
              </a:spcAft>
            </a:pPr>
            <a:r>
              <a:rPr lang="es-MX" sz="1200" dirty="0">
                <a:effectLst/>
                <a:latin typeface="Cambria" panose="02040503050406030204" pitchFamily="18" charset="0"/>
                <a:ea typeface="MS Mincho" panose="02020609040205080304" pitchFamily="49" charset="-128"/>
                <a:cs typeface="Times New Roman" panose="02020603050405020304" pitchFamily="18" charset="0"/>
              </a:rPr>
              <a:t>Balanza analítica (precisión 0.01 g o mejor).</a:t>
            </a:r>
          </a:p>
          <a:p>
            <a:pPr>
              <a:lnSpc>
                <a:spcPct val="115000"/>
              </a:lnSpc>
              <a:spcAft>
                <a:spcPts val="1000"/>
              </a:spcAft>
            </a:pPr>
            <a:r>
              <a:rPr lang="es-MX" sz="1200" dirty="0">
                <a:effectLst/>
                <a:latin typeface="Cambria" panose="02040503050406030204" pitchFamily="18" charset="0"/>
                <a:ea typeface="MS Mincho" panose="02020609040205080304" pitchFamily="49" charset="-128"/>
                <a:cs typeface="Times New Roman" panose="02020603050405020304" pitchFamily="18" charset="0"/>
              </a:rPr>
              <a:t>Gafas de seguridad, guantes resistentes al calor.</a:t>
            </a:r>
          </a:p>
          <a:p>
            <a:pPr>
              <a:lnSpc>
                <a:spcPct val="115000"/>
              </a:lnSpc>
              <a:spcAft>
                <a:spcPts val="1000"/>
              </a:spcAft>
            </a:pPr>
            <a:r>
              <a:rPr lang="es-MX" sz="1200" dirty="0">
                <a:effectLst/>
                <a:latin typeface="Cambria" panose="02040503050406030204" pitchFamily="18" charset="0"/>
                <a:ea typeface="MS Mincho" panose="02020609040205080304" pitchFamily="49" charset="-128"/>
                <a:cs typeface="Times New Roman" panose="02020603050405020304" pitchFamily="18" charset="0"/>
              </a:rPr>
              <a:t>Papel de lija fino (para limpiar el cobre).</a:t>
            </a:r>
            <a:endParaRPr lang="es-BO" sz="12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25" name="CuadroTexto 24">
            <a:extLst>
              <a:ext uri="{FF2B5EF4-FFF2-40B4-BE49-F238E27FC236}">
                <a16:creationId xmlns:a16="http://schemas.microsoft.com/office/drawing/2014/main" id="{815855C4-8281-4460-A0F1-EFC55399B63F}"/>
              </a:ext>
            </a:extLst>
          </p:cNvPr>
          <p:cNvSpPr txBox="1"/>
          <p:nvPr/>
        </p:nvSpPr>
        <p:spPr>
          <a:xfrm>
            <a:off x="425885" y="4748854"/>
            <a:ext cx="5371056" cy="369332"/>
          </a:xfrm>
          <a:prstGeom prst="rect">
            <a:avLst/>
          </a:prstGeom>
          <a:noFill/>
        </p:spPr>
        <p:txBody>
          <a:bodyPr wrap="square" rtlCol="0">
            <a:spAutoFit/>
          </a:bodyPr>
          <a:lstStyle/>
          <a:p>
            <a:r>
              <a:rPr lang="es-MX" sz="1800" b="1" i="0" u="none" strike="noStrike" baseline="0" dirty="0">
                <a:latin typeface="Arial" panose="020B0604020202020204" pitchFamily="34" charset="0"/>
              </a:rPr>
              <a:t>Formación del óxido de cobre</a:t>
            </a:r>
            <a:endParaRPr lang="es-BO" dirty="0"/>
          </a:p>
        </p:txBody>
      </p:sp>
      <p:sp>
        <p:nvSpPr>
          <p:cNvPr id="37" name="CuadroTexto 36">
            <a:extLst>
              <a:ext uri="{FF2B5EF4-FFF2-40B4-BE49-F238E27FC236}">
                <a16:creationId xmlns:a16="http://schemas.microsoft.com/office/drawing/2014/main" id="{F6C00E43-51B4-4F56-97AF-DE2AF318A7D0}"/>
              </a:ext>
            </a:extLst>
          </p:cNvPr>
          <p:cNvSpPr txBox="1"/>
          <p:nvPr/>
        </p:nvSpPr>
        <p:spPr>
          <a:xfrm>
            <a:off x="9131808" y="1097416"/>
            <a:ext cx="2428151" cy="369332"/>
          </a:xfrm>
          <a:prstGeom prst="rect">
            <a:avLst/>
          </a:prstGeom>
          <a:noFill/>
        </p:spPr>
        <p:txBody>
          <a:bodyPr wrap="square" rtlCol="0">
            <a:spAutoFit/>
          </a:bodyPr>
          <a:lstStyle/>
          <a:p>
            <a:r>
              <a:rPr lang="es-BO" b="1" dirty="0">
                <a:solidFill>
                  <a:schemeClr val="bg1"/>
                </a:solidFill>
              </a:rPr>
              <a:t>MATERIALES</a:t>
            </a:r>
          </a:p>
        </p:txBody>
      </p:sp>
    </p:spTree>
    <p:extLst>
      <p:ext uri="{BB962C8B-B14F-4D97-AF65-F5344CB8AC3E}">
        <p14:creationId xmlns:p14="http://schemas.microsoft.com/office/powerpoint/2010/main" val="267934534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Forma&#10;&#10;Descripción generada automáticamente con confianza baja">
            <a:extLst>
              <a:ext uri="{FF2B5EF4-FFF2-40B4-BE49-F238E27FC236}">
                <a16:creationId xmlns:a16="http://schemas.microsoft.com/office/drawing/2014/main" id="{328A31D1-63B1-4167-83A1-7E2293F2CF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ángulo 3">
            <a:extLst>
              <a:ext uri="{FF2B5EF4-FFF2-40B4-BE49-F238E27FC236}">
                <a16:creationId xmlns:a16="http://schemas.microsoft.com/office/drawing/2014/main" id="{D9338F33-D663-455B-9210-CCF6A85F7B9B}"/>
              </a:ext>
            </a:extLst>
          </p:cNvPr>
          <p:cNvSpPr/>
          <p:nvPr/>
        </p:nvSpPr>
        <p:spPr>
          <a:xfrm>
            <a:off x="0" y="0"/>
            <a:ext cx="12192000" cy="6488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5" name="Rectángulo 4">
            <a:extLst>
              <a:ext uri="{FF2B5EF4-FFF2-40B4-BE49-F238E27FC236}">
                <a16:creationId xmlns:a16="http://schemas.microsoft.com/office/drawing/2014/main" id="{A2CDDBD2-F8D3-4E9A-8F4B-DB84BE5BDF18}"/>
              </a:ext>
            </a:extLst>
          </p:cNvPr>
          <p:cNvSpPr/>
          <p:nvPr/>
        </p:nvSpPr>
        <p:spPr>
          <a:xfrm>
            <a:off x="0" y="0"/>
            <a:ext cx="12192000" cy="70145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6" name="Imagen 5">
            <a:extLst>
              <a:ext uri="{FF2B5EF4-FFF2-40B4-BE49-F238E27FC236}">
                <a16:creationId xmlns:a16="http://schemas.microsoft.com/office/drawing/2014/main" id="{E847647C-B176-4800-AF13-63B1A91F54B7}"/>
              </a:ext>
            </a:extLst>
          </p:cNvPr>
          <p:cNvPicPr>
            <a:picLocks noChangeAspect="1"/>
          </p:cNvPicPr>
          <p:nvPr/>
        </p:nvPicPr>
        <p:blipFill rotWithShape="1">
          <a:blip r:embed="rId3">
            <a:clrChange>
              <a:clrFrom>
                <a:srgbClr val="000000"/>
              </a:clrFrom>
              <a:clrTo>
                <a:srgbClr val="000000">
                  <a:alpha val="0"/>
                </a:srgbClr>
              </a:clrTo>
            </a:clrChange>
          </a:blip>
          <a:srcRect t="20117" b="23156"/>
          <a:stretch/>
        </p:blipFill>
        <p:spPr>
          <a:xfrm>
            <a:off x="851769" y="0"/>
            <a:ext cx="2198319" cy="701458"/>
          </a:xfrm>
          <a:prstGeom prst="rect">
            <a:avLst/>
          </a:prstGeom>
        </p:spPr>
      </p:pic>
      <p:pic>
        <p:nvPicPr>
          <p:cNvPr id="7" name="Gráfico 6" descr="Icono de menú de hamburguesa con relleno sólido">
            <a:extLst>
              <a:ext uri="{FF2B5EF4-FFF2-40B4-BE49-F238E27FC236}">
                <a16:creationId xmlns:a16="http://schemas.microsoft.com/office/drawing/2014/main" id="{8DF1106B-82F8-46A7-B035-73B3A2E3490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826" y="51670"/>
            <a:ext cx="598118" cy="598118"/>
          </a:xfrm>
          <a:prstGeom prst="rect">
            <a:avLst/>
          </a:prstGeom>
        </p:spPr>
      </p:pic>
      <p:pic>
        <p:nvPicPr>
          <p:cNvPr id="9" name="Gráfico 8" descr="Timbre con relleno sólido">
            <a:extLst>
              <a:ext uri="{FF2B5EF4-FFF2-40B4-BE49-F238E27FC236}">
                <a16:creationId xmlns:a16="http://schemas.microsoft.com/office/drawing/2014/main" id="{0B3743EB-DF41-4F07-9E25-AA149E7B7D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927918" y="122129"/>
            <a:ext cx="457200" cy="457200"/>
          </a:xfrm>
          <a:prstGeom prst="rect">
            <a:avLst/>
          </a:prstGeom>
        </p:spPr>
      </p:pic>
      <p:sp>
        <p:nvSpPr>
          <p:cNvPr id="10" name="Diagrama de flujo: conector 9">
            <a:extLst>
              <a:ext uri="{FF2B5EF4-FFF2-40B4-BE49-F238E27FC236}">
                <a16:creationId xmlns:a16="http://schemas.microsoft.com/office/drawing/2014/main" id="{9B7ADC8E-B7E9-47EC-A30A-089A09C1F148}"/>
              </a:ext>
            </a:extLst>
          </p:cNvPr>
          <p:cNvSpPr/>
          <p:nvPr/>
        </p:nvSpPr>
        <p:spPr>
          <a:xfrm>
            <a:off x="11559959" y="122129"/>
            <a:ext cx="457200" cy="457200"/>
          </a:xfrm>
          <a:prstGeom prst="flowChartConnec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2" name="Gráfico 11" descr="Tabla con relleno sólido">
            <a:extLst>
              <a:ext uri="{FF2B5EF4-FFF2-40B4-BE49-F238E27FC236}">
                <a16:creationId xmlns:a16="http://schemas.microsoft.com/office/drawing/2014/main" id="{DFF051EE-6D6C-4E1A-A1F8-778D2DF5B15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383298" y="0"/>
            <a:ext cx="457200" cy="701458"/>
          </a:xfrm>
          <a:prstGeom prst="rect">
            <a:avLst/>
          </a:prstGeom>
        </p:spPr>
      </p:pic>
      <p:pic>
        <p:nvPicPr>
          <p:cNvPr id="14" name="Gráfico 13" descr="Flecha arriba contorno">
            <a:extLst>
              <a:ext uri="{FF2B5EF4-FFF2-40B4-BE49-F238E27FC236}">
                <a16:creationId xmlns:a16="http://schemas.microsoft.com/office/drawing/2014/main" id="{47B78DCD-0FB5-4C1F-8782-A3ECE3D88A8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751257" y="122129"/>
            <a:ext cx="457200" cy="457200"/>
          </a:xfrm>
          <a:prstGeom prst="rect">
            <a:avLst/>
          </a:prstGeom>
        </p:spPr>
      </p:pic>
      <p:sp>
        <p:nvSpPr>
          <p:cNvPr id="15" name="Rectángulo 14">
            <a:extLst>
              <a:ext uri="{FF2B5EF4-FFF2-40B4-BE49-F238E27FC236}">
                <a16:creationId xmlns:a16="http://schemas.microsoft.com/office/drawing/2014/main" id="{B01C155E-68B1-43E8-BF09-6569FD9CA73A}"/>
              </a:ext>
            </a:extLst>
          </p:cNvPr>
          <p:cNvSpPr/>
          <p:nvPr/>
        </p:nvSpPr>
        <p:spPr>
          <a:xfrm>
            <a:off x="3332185" y="203548"/>
            <a:ext cx="4980150" cy="35072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6" name="Rectángulo 15">
            <a:extLst>
              <a:ext uri="{FF2B5EF4-FFF2-40B4-BE49-F238E27FC236}">
                <a16:creationId xmlns:a16="http://schemas.microsoft.com/office/drawing/2014/main" id="{4F80BD86-921C-42C7-94AF-7289DCEC14C4}"/>
              </a:ext>
            </a:extLst>
          </p:cNvPr>
          <p:cNvSpPr/>
          <p:nvPr/>
        </p:nvSpPr>
        <p:spPr>
          <a:xfrm>
            <a:off x="8312335" y="203548"/>
            <a:ext cx="719461" cy="350729"/>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8" name="Gráfico 17" descr="Lupa con relleno sólido">
            <a:extLst>
              <a:ext uri="{FF2B5EF4-FFF2-40B4-BE49-F238E27FC236}">
                <a16:creationId xmlns:a16="http://schemas.microsoft.com/office/drawing/2014/main" id="{FBF0D449-6C14-4B5C-A0E1-ADC92E3DE2D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523973" y="230819"/>
            <a:ext cx="296185" cy="296185"/>
          </a:xfrm>
          <a:prstGeom prst="rect">
            <a:avLst/>
          </a:prstGeom>
        </p:spPr>
      </p:pic>
      <p:sp>
        <p:nvSpPr>
          <p:cNvPr id="19" name="CuadroTexto 18">
            <a:extLst>
              <a:ext uri="{FF2B5EF4-FFF2-40B4-BE49-F238E27FC236}">
                <a16:creationId xmlns:a16="http://schemas.microsoft.com/office/drawing/2014/main" id="{3D4E23BF-ADD2-48DF-9219-386000A6541E}"/>
              </a:ext>
            </a:extLst>
          </p:cNvPr>
          <p:cNvSpPr txBox="1"/>
          <p:nvPr/>
        </p:nvSpPr>
        <p:spPr>
          <a:xfrm>
            <a:off x="3332184" y="169463"/>
            <a:ext cx="5155515" cy="369332"/>
          </a:xfrm>
          <a:prstGeom prst="rect">
            <a:avLst/>
          </a:prstGeom>
          <a:noFill/>
        </p:spPr>
        <p:txBody>
          <a:bodyPr wrap="square" rtlCol="0">
            <a:spAutoFit/>
          </a:bodyPr>
          <a:lstStyle/>
          <a:p>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Descomposición</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térmica</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del </a:t>
            </a:r>
            <a:r>
              <a:rPr lang="en-US" sz="1800" dirty="0" err="1">
                <a:effectLst/>
                <a:latin typeface="Cambria" panose="02040503050406030204" pitchFamily="18" charset="0"/>
                <a:ea typeface="MS Mincho" panose="02020609040205080304" pitchFamily="49" charset="-128"/>
                <a:cs typeface="Times New Roman" panose="02020603050405020304" pitchFamily="18" charset="0"/>
              </a:rPr>
              <a:t>bicarbonato</a:t>
            </a:r>
            <a:r>
              <a:rPr lang="en-US" sz="1800" dirty="0">
                <a:effectLst/>
                <a:latin typeface="Cambria" panose="02040503050406030204" pitchFamily="18" charset="0"/>
                <a:ea typeface="MS Mincho" panose="02020609040205080304" pitchFamily="49" charset="-128"/>
                <a:cs typeface="Times New Roman" panose="02020603050405020304" pitchFamily="18" charset="0"/>
              </a:rPr>
              <a:t> de sodio </a:t>
            </a:r>
            <a:endParaRPr lang="es-MX" sz="2000" dirty="0">
              <a:latin typeface="K26AlphaCasual" panose="02000603000000000000" pitchFamily="2" charset="0"/>
              <a:ea typeface="K26AlphaCasual" panose="02000603000000000000" pitchFamily="2" charset="0"/>
            </a:endParaRPr>
          </a:p>
        </p:txBody>
      </p:sp>
      <p:pic>
        <p:nvPicPr>
          <p:cNvPr id="21" name="Gráfico 20" descr="Micrófono de radiocomunicación con relleno sólido">
            <a:extLst>
              <a:ext uri="{FF2B5EF4-FFF2-40B4-BE49-F238E27FC236}">
                <a16:creationId xmlns:a16="http://schemas.microsoft.com/office/drawing/2014/main" id="{8DE644E5-59CC-4744-BFD1-0F41340B7D1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68069" y="218844"/>
            <a:ext cx="350729" cy="350729"/>
          </a:xfrm>
          <a:prstGeom prst="rect">
            <a:avLst/>
          </a:prstGeom>
        </p:spPr>
      </p:pic>
      <p:sp>
        <p:nvSpPr>
          <p:cNvPr id="22" name="Rectángulo 21">
            <a:hlinkClick r:id="rId16" action="ppaction://hlinksldjump"/>
            <a:extLst>
              <a:ext uri="{FF2B5EF4-FFF2-40B4-BE49-F238E27FC236}">
                <a16:creationId xmlns:a16="http://schemas.microsoft.com/office/drawing/2014/main" id="{9C9398BB-8115-46E5-AECC-275B71946D5E}"/>
              </a:ext>
            </a:extLst>
          </p:cNvPr>
          <p:cNvSpPr/>
          <p:nvPr/>
        </p:nvSpPr>
        <p:spPr>
          <a:xfrm>
            <a:off x="0" y="701458"/>
            <a:ext cx="12192000" cy="2727542"/>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CuadroTexto 29">
            <a:extLst>
              <a:ext uri="{FF2B5EF4-FFF2-40B4-BE49-F238E27FC236}">
                <a16:creationId xmlns:a16="http://schemas.microsoft.com/office/drawing/2014/main" id="{653EEA38-26F1-4CE7-B1BA-60B74A8873FF}"/>
              </a:ext>
            </a:extLst>
          </p:cNvPr>
          <p:cNvSpPr txBox="1"/>
          <p:nvPr/>
        </p:nvSpPr>
        <p:spPr>
          <a:xfrm>
            <a:off x="3054476" y="5060076"/>
            <a:ext cx="3553216" cy="523220"/>
          </a:xfrm>
          <a:prstGeom prst="rect">
            <a:avLst/>
          </a:prstGeom>
          <a:noFill/>
        </p:spPr>
        <p:txBody>
          <a:bodyPr wrap="square" rtlCol="0">
            <a:spAutoFit/>
          </a:bodyPr>
          <a:lstStyle/>
          <a:p>
            <a:endParaRPr lang="es-MX" sz="2800" dirty="0">
              <a:latin typeface="Bahnschrift" panose="020B0502040204020203" pitchFamily="34" charset="0"/>
            </a:endParaRPr>
          </a:p>
        </p:txBody>
      </p:sp>
      <p:sp>
        <p:nvSpPr>
          <p:cNvPr id="33" name="CuadroTexto 32">
            <a:extLst>
              <a:ext uri="{FF2B5EF4-FFF2-40B4-BE49-F238E27FC236}">
                <a16:creationId xmlns:a16="http://schemas.microsoft.com/office/drawing/2014/main" id="{2078CEA6-C849-47CD-BBF9-19091916009C}"/>
              </a:ext>
            </a:extLst>
          </p:cNvPr>
          <p:cNvSpPr txBox="1"/>
          <p:nvPr/>
        </p:nvSpPr>
        <p:spPr>
          <a:xfrm>
            <a:off x="-61660" y="676406"/>
            <a:ext cx="3553216" cy="523220"/>
          </a:xfrm>
          <a:prstGeom prst="rect">
            <a:avLst/>
          </a:prstGeom>
          <a:noFill/>
        </p:spPr>
        <p:txBody>
          <a:bodyPr wrap="square" rtlCol="0">
            <a:spAutoFit/>
          </a:bodyPr>
          <a:lstStyle/>
          <a:p>
            <a:r>
              <a:rPr lang="es-MX" sz="2800" b="1" u="sng" dirty="0">
                <a:solidFill>
                  <a:schemeClr val="bg1"/>
                </a:solidFill>
                <a:latin typeface="Bahnschrift" panose="020B0502040204020203" pitchFamily="34" charset="0"/>
              </a:rPr>
              <a:t>PROCEDIMIENTO</a:t>
            </a:r>
          </a:p>
        </p:txBody>
      </p:sp>
      <p:sp>
        <p:nvSpPr>
          <p:cNvPr id="37" name="CuadroTexto 36">
            <a:extLst>
              <a:ext uri="{FF2B5EF4-FFF2-40B4-BE49-F238E27FC236}">
                <a16:creationId xmlns:a16="http://schemas.microsoft.com/office/drawing/2014/main" id="{3D41960F-BC80-41CD-B110-6C2EBA7DA221}"/>
              </a:ext>
            </a:extLst>
          </p:cNvPr>
          <p:cNvSpPr txBox="1"/>
          <p:nvPr/>
        </p:nvSpPr>
        <p:spPr>
          <a:xfrm>
            <a:off x="-61661" y="1281568"/>
            <a:ext cx="12191999" cy="2062103"/>
          </a:xfrm>
          <a:prstGeom prst="rect">
            <a:avLst/>
          </a:prstGeom>
          <a:noFill/>
        </p:spPr>
        <p:txBody>
          <a:bodyPr wrap="square" rtlCol="0">
            <a:spAutoFit/>
          </a:bodyPr>
          <a:lstStyle/>
          <a:p>
            <a:pPr algn="l"/>
            <a:r>
              <a:rPr lang="es-MX" sz="1600" b="0" i="0" u="none" strike="noStrike" baseline="0" dirty="0">
                <a:latin typeface="Arial" panose="020B0604020202020204" pitchFamily="34" charset="0"/>
              </a:rPr>
              <a:t>1 Limpiar el cobre con papel de lija y secarlo.</a:t>
            </a:r>
          </a:p>
          <a:p>
            <a:pPr algn="l"/>
            <a:r>
              <a:rPr lang="es-MX" sz="1600" b="0" i="0" u="none" strike="noStrike" baseline="0" dirty="0">
                <a:latin typeface="Arial" panose="020B0604020202020204" pitchFamily="34" charset="0"/>
              </a:rPr>
              <a:t>2 Pesar el crisol vacío (m1).</a:t>
            </a:r>
          </a:p>
          <a:p>
            <a:pPr algn="l"/>
            <a:r>
              <a:rPr lang="es-MX" sz="1600" b="0" i="0" u="none" strike="noStrike" baseline="0" dirty="0">
                <a:latin typeface="Arial" panose="020B0604020202020204" pitchFamily="34" charset="0"/>
              </a:rPr>
              <a:t>3 Colocar el cobre dentro y pesar (m2 = crisol + cobre). Anotar.</a:t>
            </a:r>
          </a:p>
          <a:p>
            <a:pPr algn="l"/>
            <a:r>
              <a:rPr lang="es-MX" sz="1600" b="0" i="0" u="none" strike="noStrike" baseline="0" dirty="0">
                <a:latin typeface="Arial" panose="020B0604020202020204" pitchFamily="34" charset="0"/>
              </a:rPr>
              <a:t>4 Calentar el crisol con el cobre en el mechero durante 10–15 min hasta que la superficie se vuelva</a:t>
            </a:r>
          </a:p>
          <a:p>
            <a:pPr algn="l"/>
            <a:r>
              <a:rPr lang="es-BO" sz="1600" b="0" i="0" u="none" strike="noStrike" baseline="0" dirty="0">
                <a:latin typeface="Arial" panose="020B0604020202020204" pitchFamily="34" charset="0"/>
              </a:rPr>
              <a:t>negra.</a:t>
            </a:r>
          </a:p>
          <a:p>
            <a:pPr algn="l"/>
            <a:r>
              <a:rPr lang="es-MX" sz="1600" b="0" i="0" u="none" strike="noStrike" baseline="0" dirty="0">
                <a:latin typeface="Arial" panose="020B0604020202020204" pitchFamily="34" charset="0"/>
              </a:rPr>
              <a:t>5 Dejar enfriar a temperatura ambiente y pesar el crisol con el producto (m3 = crisol + óxido).</a:t>
            </a:r>
          </a:p>
          <a:p>
            <a:pPr algn="l"/>
            <a:r>
              <a:rPr lang="es-MX" sz="1600" b="0" i="0" u="none" strike="noStrike" baseline="0" dirty="0">
                <a:latin typeface="Arial" panose="020B0604020202020204" pitchFamily="34" charset="0"/>
              </a:rPr>
              <a:t>6 Calcular la masa de cobre inicial (</a:t>
            </a:r>
            <a:r>
              <a:rPr lang="es-MX" sz="1600" b="0" i="0" u="none" strike="noStrike" baseline="0" dirty="0" err="1">
                <a:latin typeface="Arial" panose="020B0604020202020204" pitchFamily="34" charset="0"/>
              </a:rPr>
              <a:t>m_cu</a:t>
            </a:r>
            <a:r>
              <a:rPr lang="es-MX" sz="1600" b="0" i="0" u="none" strike="noStrike" baseline="0" dirty="0">
                <a:latin typeface="Arial" panose="020B0604020202020204" pitchFamily="34" charset="0"/>
              </a:rPr>
              <a:t> = m2 </a:t>
            </a:r>
            <a:r>
              <a:rPr lang="es-MX" sz="1600" b="0" i="0" u="none" strike="noStrike" baseline="0" dirty="0">
                <a:latin typeface="Symbol" panose="05050102010706020507" pitchFamily="18" charset="2"/>
              </a:rPr>
              <a:t>- </a:t>
            </a:r>
            <a:r>
              <a:rPr lang="es-MX" sz="1600" b="0" i="0" u="none" strike="noStrike" baseline="0" dirty="0">
                <a:latin typeface="Arial" panose="020B0604020202020204" pitchFamily="34" charset="0"/>
              </a:rPr>
              <a:t>m1), la masa del óxido (</a:t>
            </a:r>
            <a:r>
              <a:rPr lang="es-MX" sz="1600" b="0" i="0" u="none" strike="noStrike" baseline="0" dirty="0" err="1">
                <a:latin typeface="Arial" panose="020B0604020202020204" pitchFamily="34" charset="0"/>
              </a:rPr>
              <a:t>m_ox</a:t>
            </a:r>
            <a:r>
              <a:rPr lang="es-MX" sz="1600" b="0" i="0" u="none" strike="noStrike" baseline="0" dirty="0">
                <a:latin typeface="Arial" panose="020B0604020202020204" pitchFamily="34" charset="0"/>
              </a:rPr>
              <a:t> = m3 </a:t>
            </a:r>
            <a:r>
              <a:rPr lang="es-MX" sz="1600" b="0" i="0" u="none" strike="noStrike" baseline="0" dirty="0">
                <a:latin typeface="Symbol" panose="05050102010706020507" pitchFamily="18" charset="2"/>
              </a:rPr>
              <a:t>- </a:t>
            </a:r>
            <a:r>
              <a:rPr lang="es-MX" sz="1600" b="0" i="0" u="none" strike="noStrike" baseline="0" dirty="0">
                <a:latin typeface="Arial" panose="020B0604020202020204" pitchFamily="34" charset="0"/>
              </a:rPr>
              <a:t>m1) y la</a:t>
            </a:r>
          </a:p>
          <a:p>
            <a:pPr algn="l"/>
            <a:r>
              <a:rPr lang="pt-BR" sz="1600" b="0" i="0" u="none" strike="noStrike" baseline="0" dirty="0" err="1">
                <a:latin typeface="Arial" panose="020B0604020202020204" pitchFamily="34" charset="0"/>
              </a:rPr>
              <a:t>masa</a:t>
            </a:r>
            <a:r>
              <a:rPr lang="pt-BR" sz="1600" b="0" i="0" u="none" strike="noStrike" baseline="0" dirty="0">
                <a:latin typeface="Arial" panose="020B0604020202020204" pitchFamily="34" charset="0"/>
              </a:rPr>
              <a:t> de </a:t>
            </a:r>
            <a:r>
              <a:rPr lang="pt-BR" sz="1600" b="0" i="0" u="none" strike="noStrike" baseline="0" dirty="0" err="1">
                <a:latin typeface="Arial" panose="020B0604020202020204" pitchFamily="34" charset="0"/>
              </a:rPr>
              <a:t>oxígeno</a:t>
            </a:r>
            <a:r>
              <a:rPr lang="pt-BR" sz="1600" b="0" i="0" u="none" strike="noStrike" baseline="0" dirty="0">
                <a:latin typeface="Arial" panose="020B0604020202020204" pitchFamily="34" charset="0"/>
              </a:rPr>
              <a:t> </a:t>
            </a:r>
            <a:r>
              <a:rPr lang="pt-BR" sz="1600" b="0" i="0" u="none" strike="noStrike" baseline="0" dirty="0" err="1">
                <a:latin typeface="Arial" panose="020B0604020202020204" pitchFamily="34" charset="0"/>
              </a:rPr>
              <a:t>ganado</a:t>
            </a:r>
            <a:r>
              <a:rPr lang="pt-BR" sz="1600" b="0" i="0" u="none" strike="noStrike" baseline="0" dirty="0">
                <a:latin typeface="Arial" panose="020B0604020202020204" pitchFamily="34" charset="0"/>
              </a:rPr>
              <a:t> (</a:t>
            </a:r>
            <a:r>
              <a:rPr lang="pt-BR" sz="1600" b="0" i="0" u="none" strike="noStrike" baseline="0" dirty="0" err="1">
                <a:latin typeface="Arial" panose="020B0604020202020204" pitchFamily="34" charset="0"/>
              </a:rPr>
              <a:t>m_o</a:t>
            </a:r>
            <a:r>
              <a:rPr lang="pt-BR" sz="1600" b="0" i="0" u="none" strike="noStrike" baseline="0" dirty="0">
                <a:latin typeface="Arial" panose="020B0604020202020204" pitchFamily="34" charset="0"/>
              </a:rPr>
              <a:t> = </a:t>
            </a:r>
            <a:r>
              <a:rPr lang="pt-BR" sz="1600" b="0" i="0" u="none" strike="noStrike" baseline="0" dirty="0" err="1">
                <a:latin typeface="Arial" panose="020B0604020202020204" pitchFamily="34" charset="0"/>
              </a:rPr>
              <a:t>m_ox</a:t>
            </a:r>
            <a:r>
              <a:rPr lang="pt-BR" sz="1600" b="0" i="0" u="none" strike="noStrike" baseline="0" dirty="0">
                <a:latin typeface="Arial" panose="020B0604020202020204" pitchFamily="34" charset="0"/>
              </a:rPr>
              <a:t> </a:t>
            </a:r>
            <a:r>
              <a:rPr lang="pt-BR" sz="1600" b="0" i="0" u="none" strike="noStrike" baseline="0" dirty="0">
                <a:latin typeface="Symbol" panose="05050102010706020507" pitchFamily="18" charset="2"/>
              </a:rPr>
              <a:t>- </a:t>
            </a:r>
            <a:r>
              <a:rPr lang="pt-BR" sz="1600" b="0" i="0" u="none" strike="noStrike" baseline="0" dirty="0" err="1">
                <a:latin typeface="Arial" panose="020B0604020202020204" pitchFamily="34" charset="0"/>
              </a:rPr>
              <a:t>m_cu</a:t>
            </a:r>
            <a:r>
              <a:rPr lang="pt-BR" sz="1600" b="0" i="0" u="none" strike="noStrike" baseline="0" dirty="0">
                <a:latin typeface="Arial" panose="020B0604020202020204" pitchFamily="34" charset="0"/>
              </a:rPr>
              <a:t>).</a:t>
            </a:r>
            <a:endParaRPr lang="es-MX" sz="1600" dirty="0">
              <a:latin typeface="HP Simplified" panose="020B0604020204020204" pitchFamily="34" charset="0"/>
            </a:endParaRPr>
          </a:p>
        </p:txBody>
      </p:sp>
    </p:spTree>
    <p:extLst>
      <p:ext uri="{BB962C8B-B14F-4D97-AF65-F5344CB8AC3E}">
        <p14:creationId xmlns:p14="http://schemas.microsoft.com/office/powerpoint/2010/main" val="3725582885"/>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Forma&#10;&#10;Descripción generada automáticamente con confianza baja">
            <a:extLst>
              <a:ext uri="{FF2B5EF4-FFF2-40B4-BE49-F238E27FC236}">
                <a16:creationId xmlns:a16="http://schemas.microsoft.com/office/drawing/2014/main" id="{70A7AE61-87BA-4F3B-8753-E95CF0CD8B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ángulo 2">
            <a:extLst>
              <a:ext uri="{FF2B5EF4-FFF2-40B4-BE49-F238E27FC236}">
                <a16:creationId xmlns:a16="http://schemas.microsoft.com/office/drawing/2014/main" id="{A24C5AED-C876-4729-895F-3AE99074D238}"/>
              </a:ext>
            </a:extLst>
          </p:cNvPr>
          <p:cNvSpPr/>
          <p:nvPr/>
        </p:nvSpPr>
        <p:spPr>
          <a:xfrm>
            <a:off x="0" y="0"/>
            <a:ext cx="12192000" cy="6488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1AFB09DD-21A4-46ED-9550-7D70F53695EF}"/>
              </a:ext>
            </a:extLst>
          </p:cNvPr>
          <p:cNvSpPr/>
          <p:nvPr/>
        </p:nvSpPr>
        <p:spPr>
          <a:xfrm>
            <a:off x="0" y="0"/>
            <a:ext cx="12192000" cy="70145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6" name="Imagen 5">
            <a:hlinkClick r:id="rId3" action="ppaction://hlinksldjump"/>
            <a:extLst>
              <a:ext uri="{FF2B5EF4-FFF2-40B4-BE49-F238E27FC236}">
                <a16:creationId xmlns:a16="http://schemas.microsoft.com/office/drawing/2014/main" id="{4BAF07C6-ABB9-4DCC-B7D9-41BA68C94D8A}"/>
              </a:ext>
            </a:extLst>
          </p:cNvPr>
          <p:cNvPicPr>
            <a:picLocks noChangeAspect="1"/>
          </p:cNvPicPr>
          <p:nvPr/>
        </p:nvPicPr>
        <p:blipFill rotWithShape="1">
          <a:blip r:embed="rId4">
            <a:clrChange>
              <a:clrFrom>
                <a:srgbClr val="000000"/>
              </a:clrFrom>
              <a:clrTo>
                <a:srgbClr val="000000">
                  <a:alpha val="0"/>
                </a:srgbClr>
              </a:clrTo>
            </a:clrChange>
          </a:blip>
          <a:srcRect t="20117" b="23156"/>
          <a:stretch/>
        </p:blipFill>
        <p:spPr>
          <a:xfrm>
            <a:off x="851769" y="0"/>
            <a:ext cx="2198319" cy="701458"/>
          </a:xfrm>
          <a:prstGeom prst="rect">
            <a:avLst/>
          </a:prstGeom>
        </p:spPr>
      </p:pic>
      <p:pic>
        <p:nvPicPr>
          <p:cNvPr id="7" name="Gráfico 6" descr="Icono de menú de hamburguesa con relleno sólido">
            <a:extLst>
              <a:ext uri="{FF2B5EF4-FFF2-40B4-BE49-F238E27FC236}">
                <a16:creationId xmlns:a16="http://schemas.microsoft.com/office/drawing/2014/main" id="{79678707-B177-4824-B1BF-7B8598882F8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6826" y="51670"/>
            <a:ext cx="598118" cy="598118"/>
          </a:xfrm>
          <a:prstGeom prst="rect">
            <a:avLst/>
          </a:prstGeom>
        </p:spPr>
      </p:pic>
      <p:sp>
        <p:nvSpPr>
          <p:cNvPr id="8" name="Diagrama de flujo: conector 7">
            <a:extLst>
              <a:ext uri="{FF2B5EF4-FFF2-40B4-BE49-F238E27FC236}">
                <a16:creationId xmlns:a16="http://schemas.microsoft.com/office/drawing/2014/main" id="{4BECE84B-8E9F-4BF4-85C4-E68EB6ECAAC8}"/>
              </a:ext>
            </a:extLst>
          </p:cNvPr>
          <p:cNvSpPr/>
          <p:nvPr/>
        </p:nvSpPr>
        <p:spPr>
          <a:xfrm>
            <a:off x="11559959" y="122129"/>
            <a:ext cx="457200" cy="457200"/>
          </a:xfrm>
          <a:prstGeom prst="flowChartConnec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9" name="Gráfico 8" descr="Timbre con relleno sólido">
            <a:extLst>
              <a:ext uri="{FF2B5EF4-FFF2-40B4-BE49-F238E27FC236}">
                <a16:creationId xmlns:a16="http://schemas.microsoft.com/office/drawing/2014/main" id="{809AFDE1-3F65-4AA7-A231-E1913BAE430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27918" y="122129"/>
            <a:ext cx="457200" cy="457200"/>
          </a:xfrm>
          <a:prstGeom prst="rect">
            <a:avLst/>
          </a:prstGeom>
        </p:spPr>
      </p:pic>
      <p:pic>
        <p:nvPicPr>
          <p:cNvPr id="10" name="Gráfico 9" descr="Flecha arriba contorno">
            <a:extLst>
              <a:ext uri="{FF2B5EF4-FFF2-40B4-BE49-F238E27FC236}">
                <a16:creationId xmlns:a16="http://schemas.microsoft.com/office/drawing/2014/main" id="{841EE211-47F7-49DA-9A27-876DAD4DCC6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51257" y="122129"/>
            <a:ext cx="457200" cy="457200"/>
          </a:xfrm>
          <a:prstGeom prst="rect">
            <a:avLst/>
          </a:prstGeom>
        </p:spPr>
      </p:pic>
      <p:pic>
        <p:nvPicPr>
          <p:cNvPr id="11" name="Gráfico 10" descr="Tabla con relleno sólido">
            <a:extLst>
              <a:ext uri="{FF2B5EF4-FFF2-40B4-BE49-F238E27FC236}">
                <a16:creationId xmlns:a16="http://schemas.microsoft.com/office/drawing/2014/main" id="{43718215-1563-4302-AE86-622E5D0A231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383298" y="0"/>
            <a:ext cx="457200" cy="701458"/>
          </a:xfrm>
          <a:prstGeom prst="rect">
            <a:avLst/>
          </a:prstGeom>
        </p:spPr>
      </p:pic>
      <p:sp>
        <p:nvSpPr>
          <p:cNvPr id="12" name="Rectángulo 11">
            <a:extLst>
              <a:ext uri="{FF2B5EF4-FFF2-40B4-BE49-F238E27FC236}">
                <a16:creationId xmlns:a16="http://schemas.microsoft.com/office/drawing/2014/main" id="{B9D092F9-C353-4B5B-BBD9-26D6948AEF1D}"/>
              </a:ext>
            </a:extLst>
          </p:cNvPr>
          <p:cNvSpPr/>
          <p:nvPr/>
        </p:nvSpPr>
        <p:spPr>
          <a:xfrm>
            <a:off x="3332185" y="203548"/>
            <a:ext cx="4980150" cy="35072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EA0F5CFB-6B8E-4B07-BD8A-D62537217F28}"/>
              </a:ext>
            </a:extLst>
          </p:cNvPr>
          <p:cNvSpPr/>
          <p:nvPr/>
        </p:nvSpPr>
        <p:spPr>
          <a:xfrm>
            <a:off x="8312335" y="203548"/>
            <a:ext cx="719461" cy="350729"/>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4" name="Gráfico 13" descr="Lupa con relleno sólido">
            <a:extLst>
              <a:ext uri="{FF2B5EF4-FFF2-40B4-BE49-F238E27FC236}">
                <a16:creationId xmlns:a16="http://schemas.microsoft.com/office/drawing/2014/main" id="{51514209-719E-4273-9397-F6BACD6F1C4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23973" y="230819"/>
            <a:ext cx="296185" cy="296185"/>
          </a:xfrm>
          <a:prstGeom prst="rect">
            <a:avLst/>
          </a:prstGeom>
        </p:spPr>
      </p:pic>
      <p:sp>
        <p:nvSpPr>
          <p:cNvPr id="15" name="CuadroTexto 14">
            <a:extLst>
              <a:ext uri="{FF2B5EF4-FFF2-40B4-BE49-F238E27FC236}">
                <a16:creationId xmlns:a16="http://schemas.microsoft.com/office/drawing/2014/main" id="{D949DC37-82FC-4FC3-8232-93F1CB974A43}"/>
              </a:ext>
            </a:extLst>
          </p:cNvPr>
          <p:cNvSpPr txBox="1"/>
          <p:nvPr/>
        </p:nvSpPr>
        <p:spPr>
          <a:xfrm>
            <a:off x="3332185" y="169463"/>
            <a:ext cx="2605414" cy="400110"/>
          </a:xfrm>
          <a:prstGeom prst="rect">
            <a:avLst/>
          </a:prstGeom>
          <a:noFill/>
        </p:spPr>
        <p:txBody>
          <a:bodyPr wrap="square" rtlCol="0">
            <a:spAutoFit/>
          </a:bodyPr>
          <a:lstStyle/>
          <a:p>
            <a:r>
              <a:rPr lang="es-MX" sz="2000" dirty="0">
                <a:latin typeface="K26AlphaCasual" panose="02000603000000000000" pitchFamily="2" charset="0"/>
                <a:ea typeface="K26AlphaCasual" panose="02000603000000000000" pitchFamily="2" charset="0"/>
              </a:rPr>
              <a:t>Buscar.</a:t>
            </a:r>
          </a:p>
        </p:txBody>
      </p:sp>
      <p:sp>
        <p:nvSpPr>
          <p:cNvPr id="16" name="Rectángulo 15">
            <a:extLst>
              <a:ext uri="{FF2B5EF4-FFF2-40B4-BE49-F238E27FC236}">
                <a16:creationId xmlns:a16="http://schemas.microsoft.com/office/drawing/2014/main" id="{8B9977D4-1F75-4B2E-88D8-45DD3404B7E9}"/>
              </a:ext>
            </a:extLst>
          </p:cNvPr>
          <p:cNvSpPr/>
          <p:nvPr/>
        </p:nvSpPr>
        <p:spPr>
          <a:xfrm>
            <a:off x="338968" y="853336"/>
            <a:ext cx="8397147" cy="3826339"/>
          </a:xfrm>
          <a:prstGeom prst="rect">
            <a:avLst/>
          </a:prstGeom>
          <a:blipFill dpi="0" rotWithShape="1">
            <a:blip r:embed="rId1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17" name="Rectángulo 16">
            <a:extLst>
              <a:ext uri="{FF2B5EF4-FFF2-40B4-BE49-F238E27FC236}">
                <a16:creationId xmlns:a16="http://schemas.microsoft.com/office/drawing/2014/main" id="{7F543D9C-8B81-428B-8C61-674488D482A2}"/>
              </a:ext>
            </a:extLst>
          </p:cNvPr>
          <p:cNvSpPr/>
          <p:nvPr/>
        </p:nvSpPr>
        <p:spPr>
          <a:xfrm>
            <a:off x="9081622" y="930058"/>
            <a:ext cx="2764871" cy="150938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a:extLst>
              <a:ext uri="{FF2B5EF4-FFF2-40B4-BE49-F238E27FC236}">
                <a16:creationId xmlns:a16="http://schemas.microsoft.com/office/drawing/2014/main" id="{4D715CD0-648D-47A1-9467-95BE784F54CF}"/>
              </a:ext>
            </a:extLst>
          </p:cNvPr>
          <p:cNvSpPr/>
          <p:nvPr/>
        </p:nvSpPr>
        <p:spPr>
          <a:xfrm>
            <a:off x="9081622" y="2912301"/>
            <a:ext cx="2764871" cy="150938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9" name="Rectángulo 18">
            <a:hlinkClick r:id="rId16" action="ppaction://hlinksldjump"/>
            <a:extLst>
              <a:ext uri="{FF2B5EF4-FFF2-40B4-BE49-F238E27FC236}">
                <a16:creationId xmlns:a16="http://schemas.microsoft.com/office/drawing/2014/main" id="{E1556042-D947-44E7-A83C-8C4C86ECE256}"/>
              </a:ext>
            </a:extLst>
          </p:cNvPr>
          <p:cNvSpPr/>
          <p:nvPr/>
        </p:nvSpPr>
        <p:spPr>
          <a:xfrm>
            <a:off x="9081621" y="4888882"/>
            <a:ext cx="2764871" cy="150938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cxnSp>
        <p:nvCxnSpPr>
          <p:cNvPr id="20" name="Conector recto 19">
            <a:extLst>
              <a:ext uri="{FF2B5EF4-FFF2-40B4-BE49-F238E27FC236}">
                <a16:creationId xmlns:a16="http://schemas.microsoft.com/office/drawing/2014/main" id="{698A7BFB-3B92-4759-A0DA-A2F9D044117F}"/>
              </a:ext>
            </a:extLst>
          </p:cNvPr>
          <p:cNvCxnSpPr/>
          <p:nvPr/>
        </p:nvCxnSpPr>
        <p:spPr>
          <a:xfrm>
            <a:off x="338968" y="5270323"/>
            <a:ext cx="832655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1" name="Diagrama de flujo: conector 20">
            <a:extLst>
              <a:ext uri="{FF2B5EF4-FFF2-40B4-BE49-F238E27FC236}">
                <a16:creationId xmlns:a16="http://schemas.microsoft.com/office/drawing/2014/main" id="{E0C64E14-0CE2-4E4F-ABA6-5B057E7EA95E}"/>
              </a:ext>
            </a:extLst>
          </p:cNvPr>
          <p:cNvSpPr/>
          <p:nvPr/>
        </p:nvSpPr>
        <p:spPr>
          <a:xfrm>
            <a:off x="292796" y="5355478"/>
            <a:ext cx="457200" cy="457200"/>
          </a:xfrm>
          <a:prstGeom prst="flowChartConnector">
            <a:avLst/>
          </a:prstGeom>
          <a:blipFill dpi="0" rotWithShape="1">
            <a:blip r:embed="rId17">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CuadroTexto 26">
            <a:extLst>
              <a:ext uri="{FF2B5EF4-FFF2-40B4-BE49-F238E27FC236}">
                <a16:creationId xmlns:a16="http://schemas.microsoft.com/office/drawing/2014/main" id="{040C4A29-1B50-4B59-8D14-7577DD3EA06B}"/>
              </a:ext>
            </a:extLst>
          </p:cNvPr>
          <p:cNvSpPr txBox="1"/>
          <p:nvPr/>
        </p:nvSpPr>
        <p:spPr>
          <a:xfrm>
            <a:off x="851769" y="5332350"/>
            <a:ext cx="1741118" cy="461665"/>
          </a:xfrm>
          <a:prstGeom prst="rect">
            <a:avLst/>
          </a:prstGeom>
          <a:noFill/>
        </p:spPr>
        <p:txBody>
          <a:bodyPr wrap="square" rtlCol="0">
            <a:spAutoFit/>
          </a:bodyPr>
          <a:lstStyle/>
          <a:p>
            <a:r>
              <a:rPr lang="es-MX" sz="2400" b="1" dirty="0">
                <a:latin typeface="HP Simplified" panose="020B0604020204020204" pitchFamily="34" charset="0"/>
              </a:rPr>
              <a:t>CIENTICERO</a:t>
            </a:r>
          </a:p>
        </p:txBody>
      </p:sp>
      <p:sp>
        <p:nvSpPr>
          <p:cNvPr id="34" name="Rectángulo 33">
            <a:extLst>
              <a:ext uri="{FF2B5EF4-FFF2-40B4-BE49-F238E27FC236}">
                <a16:creationId xmlns:a16="http://schemas.microsoft.com/office/drawing/2014/main" id="{71FA6D53-C962-4328-91AC-2AA3611CECE6}"/>
              </a:ext>
            </a:extLst>
          </p:cNvPr>
          <p:cNvSpPr/>
          <p:nvPr/>
        </p:nvSpPr>
        <p:spPr>
          <a:xfrm>
            <a:off x="6901841" y="5270323"/>
            <a:ext cx="1741118" cy="338548"/>
          </a:xfrm>
          <a:prstGeom prst="rect">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latin typeface="Bahnschrift" panose="020B0502040204020203" pitchFamily="34" charset="0"/>
              </a:rPr>
              <a:t>Suscribirse</a:t>
            </a:r>
          </a:p>
        </p:txBody>
      </p:sp>
      <p:pic>
        <p:nvPicPr>
          <p:cNvPr id="35" name="Gráfico 34" descr="Señal de pulgar hacia arriba  con relleno sólido">
            <a:extLst>
              <a:ext uri="{FF2B5EF4-FFF2-40B4-BE49-F238E27FC236}">
                <a16:creationId xmlns:a16="http://schemas.microsoft.com/office/drawing/2014/main" id="{0C73D930-A454-4BB9-AE22-09F73FAC412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901841" y="4931776"/>
            <a:ext cx="276999" cy="276999"/>
          </a:xfrm>
          <a:prstGeom prst="rect">
            <a:avLst/>
          </a:prstGeom>
        </p:spPr>
      </p:pic>
      <p:pic>
        <p:nvPicPr>
          <p:cNvPr id="36" name="Gráfico 35" descr="Señal de pulgar hacia arriba  con relleno sólido">
            <a:extLst>
              <a:ext uri="{FF2B5EF4-FFF2-40B4-BE49-F238E27FC236}">
                <a16:creationId xmlns:a16="http://schemas.microsoft.com/office/drawing/2014/main" id="{28C9A32D-FB48-4D7E-86B8-BDD26CDF81F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rot="10800000">
            <a:off x="7340501" y="4946010"/>
            <a:ext cx="276999" cy="276999"/>
          </a:xfrm>
          <a:prstGeom prst="rect">
            <a:avLst/>
          </a:prstGeom>
        </p:spPr>
      </p:pic>
      <p:sp>
        <p:nvSpPr>
          <p:cNvPr id="23" name="CuadroTexto 22">
            <a:extLst>
              <a:ext uri="{FF2B5EF4-FFF2-40B4-BE49-F238E27FC236}">
                <a16:creationId xmlns:a16="http://schemas.microsoft.com/office/drawing/2014/main" id="{2E7265C4-12CA-4753-8647-8580D71509F0}"/>
              </a:ext>
            </a:extLst>
          </p:cNvPr>
          <p:cNvSpPr txBox="1"/>
          <p:nvPr/>
        </p:nvSpPr>
        <p:spPr>
          <a:xfrm>
            <a:off x="9197788" y="949934"/>
            <a:ext cx="2362171" cy="1469633"/>
          </a:xfrm>
          <a:prstGeom prst="rect">
            <a:avLst/>
          </a:prstGeom>
          <a:noFill/>
        </p:spPr>
        <p:txBody>
          <a:bodyPr wrap="square" rtlCol="0">
            <a:spAutoFit/>
          </a:bodyPr>
          <a:lstStyle/>
          <a:p>
            <a:pPr>
              <a:lnSpc>
                <a:spcPct val="115000"/>
              </a:lnSpc>
              <a:spcBef>
                <a:spcPts val="1000"/>
              </a:spcBef>
            </a:pPr>
            <a:r>
              <a:rPr lang="en-US" sz="1000" b="1" dirty="0" err="1">
                <a:solidFill>
                  <a:schemeClr val="bg1"/>
                </a:solidFill>
                <a:effectLst/>
                <a:latin typeface="Calibri" panose="020F0502020204030204" pitchFamily="34" charset="0"/>
                <a:ea typeface="MS Gothic" panose="020B0609070205080204" pitchFamily="49" charset="-128"/>
                <a:cs typeface="Times New Roman" panose="02020603050405020304" pitchFamily="18" charset="0"/>
              </a:rPr>
              <a:t>Observaciones</a:t>
            </a:r>
            <a:endParaRPr lang="es-BO" sz="100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a:p>
            <a:pPr algn="l"/>
            <a:r>
              <a:rPr lang="it-IT" sz="1000" b="0" i="0" u="none" strike="noStrike" baseline="0" dirty="0">
                <a:latin typeface="Arial" panose="020B0604020202020204" pitchFamily="34" charset="0"/>
              </a:rPr>
              <a:t>La masa del sistema aumenta: m3 &gt; m2.</a:t>
            </a:r>
          </a:p>
          <a:p>
            <a:pPr algn="l"/>
            <a:r>
              <a:rPr lang="es-MX" sz="1000" b="0" i="0" u="none" strike="noStrike" baseline="0" dirty="0">
                <a:latin typeface="Arial" panose="020B0604020202020204" pitchFamily="34" charset="0"/>
              </a:rPr>
              <a:t>• La diferencia </a:t>
            </a:r>
            <a:r>
              <a:rPr lang="es-MX" sz="1000" b="0" i="0" u="none" strike="noStrike" baseline="0" dirty="0" err="1">
                <a:latin typeface="Arial" panose="020B0604020202020204" pitchFamily="34" charset="0"/>
              </a:rPr>
              <a:t>m_o</a:t>
            </a:r>
            <a:r>
              <a:rPr lang="es-MX" sz="1000" b="0" i="0" u="none" strike="noStrike" baseline="0" dirty="0">
                <a:latin typeface="Arial" panose="020B0604020202020204" pitchFamily="34" charset="0"/>
              </a:rPr>
              <a:t> corresponde al oxígeno que se combinó con el cobre.</a:t>
            </a:r>
          </a:p>
          <a:p>
            <a:pPr algn="l"/>
            <a:r>
              <a:rPr lang="es-MX" sz="1000" b="0" i="0" u="none" strike="noStrike" baseline="0" dirty="0">
                <a:latin typeface="Arial" panose="020B0604020202020204" pitchFamily="34" charset="0"/>
              </a:rPr>
              <a:t>• La relación masa Cu : masa O queda cercana a una proporción fija (teórica).</a:t>
            </a:r>
            <a:endParaRPr lang="es-BO" sz="10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BO" dirty="0"/>
          </a:p>
        </p:txBody>
      </p:sp>
      <p:sp>
        <p:nvSpPr>
          <p:cNvPr id="24" name="CuadroTexto 23">
            <a:extLst>
              <a:ext uri="{FF2B5EF4-FFF2-40B4-BE49-F238E27FC236}">
                <a16:creationId xmlns:a16="http://schemas.microsoft.com/office/drawing/2014/main" id="{AB205ADE-369F-4B56-8E25-1632318C1587}"/>
              </a:ext>
            </a:extLst>
          </p:cNvPr>
          <p:cNvSpPr txBox="1"/>
          <p:nvPr/>
        </p:nvSpPr>
        <p:spPr>
          <a:xfrm>
            <a:off x="9031796" y="3290098"/>
            <a:ext cx="2828652" cy="869212"/>
          </a:xfrm>
          <a:prstGeom prst="rect">
            <a:avLst/>
          </a:prstGeom>
          <a:noFill/>
        </p:spPr>
        <p:txBody>
          <a:bodyPr wrap="square" rtlCol="0">
            <a:spAutoFit/>
          </a:bodyPr>
          <a:lstStyle/>
          <a:p>
            <a:pPr>
              <a:lnSpc>
                <a:spcPct val="115000"/>
              </a:lnSpc>
              <a:spcBef>
                <a:spcPts val="1000"/>
              </a:spcBef>
            </a:pPr>
            <a:r>
              <a:rPr lang="en-US" sz="1050" b="1" dirty="0" err="1">
                <a:solidFill>
                  <a:schemeClr val="bg1"/>
                </a:solidFill>
                <a:effectLst/>
                <a:latin typeface="Calibri" panose="020F0502020204030204" pitchFamily="34" charset="0"/>
                <a:ea typeface="MS Gothic" panose="020B0609070205080204" pitchFamily="49" charset="-128"/>
                <a:cs typeface="Times New Roman" panose="02020603050405020304" pitchFamily="18" charset="0"/>
              </a:rPr>
              <a:t>Ecuación</a:t>
            </a:r>
            <a:r>
              <a:rPr lang="en-US" sz="105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rPr>
              <a:t> de </a:t>
            </a:r>
            <a:r>
              <a:rPr lang="en-US" sz="1050" b="1" dirty="0" err="1">
                <a:solidFill>
                  <a:schemeClr val="bg1"/>
                </a:solidFill>
                <a:effectLst/>
                <a:latin typeface="Calibri" panose="020F0502020204030204" pitchFamily="34" charset="0"/>
                <a:ea typeface="MS Gothic" panose="020B0609070205080204" pitchFamily="49" charset="-128"/>
                <a:cs typeface="Times New Roman" panose="02020603050405020304" pitchFamily="18" charset="0"/>
              </a:rPr>
              <a:t>Formación</a:t>
            </a:r>
            <a:endParaRPr lang="es-BO" sz="105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pPr>
            <a:r>
              <a:rPr lang="fi-FI" sz="1050" b="0" i="0" u="none" strike="noStrike" baseline="0" dirty="0">
                <a:latin typeface="Arial" panose="020B0604020202020204" pitchFamily="34" charset="0"/>
              </a:rPr>
              <a:t>2 Cu + O</a:t>
            </a:r>
            <a:r>
              <a:rPr lang="fi-FI" sz="1050" b="0" i="0" u="none" strike="noStrike" baseline="0" dirty="0">
                <a:latin typeface="AdobePiStd"/>
              </a:rPr>
              <a:t>n </a:t>
            </a:r>
            <a:r>
              <a:rPr lang="fi-FI" sz="1050" b="0" i="0" u="none" strike="noStrike" baseline="0" dirty="0">
                <a:latin typeface="Symbol" panose="05050102010706020507" pitchFamily="18" charset="2"/>
              </a:rPr>
              <a:t>® </a:t>
            </a:r>
            <a:r>
              <a:rPr lang="fi-FI" sz="1050" b="0" i="0" u="none" strike="noStrike" baseline="0" dirty="0">
                <a:latin typeface="Arial" panose="020B0604020202020204" pitchFamily="34" charset="0"/>
              </a:rPr>
              <a:t>2 CuO</a:t>
            </a:r>
            <a:endParaRPr lang="es-BO" sz="105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s-BO" dirty="0"/>
          </a:p>
        </p:txBody>
      </p:sp>
      <p:sp>
        <p:nvSpPr>
          <p:cNvPr id="37" name="CuadroTexto 36">
            <a:extLst>
              <a:ext uri="{FF2B5EF4-FFF2-40B4-BE49-F238E27FC236}">
                <a16:creationId xmlns:a16="http://schemas.microsoft.com/office/drawing/2014/main" id="{58B2BC0A-A8B6-4FC6-94B5-D23FE57D8124}"/>
              </a:ext>
            </a:extLst>
          </p:cNvPr>
          <p:cNvSpPr txBox="1"/>
          <p:nvPr/>
        </p:nvSpPr>
        <p:spPr>
          <a:xfrm>
            <a:off x="9090556" y="4850556"/>
            <a:ext cx="2504542" cy="1541961"/>
          </a:xfrm>
          <a:prstGeom prst="rect">
            <a:avLst/>
          </a:prstGeom>
          <a:noFill/>
        </p:spPr>
        <p:txBody>
          <a:bodyPr wrap="square">
            <a:spAutoFit/>
          </a:bodyPr>
          <a:lstStyle/>
          <a:p>
            <a:pPr>
              <a:lnSpc>
                <a:spcPct val="115000"/>
              </a:lnSpc>
              <a:spcBef>
                <a:spcPts val="1000"/>
              </a:spcBef>
            </a:pPr>
            <a:r>
              <a:rPr lang="en-US" sz="800" b="1" dirty="0" err="1">
                <a:solidFill>
                  <a:schemeClr val="bg1"/>
                </a:solidFill>
                <a:effectLst/>
                <a:latin typeface="Calibri" panose="020F0502020204030204" pitchFamily="34" charset="0"/>
                <a:ea typeface="MS Gothic" panose="020B0609070205080204" pitchFamily="49" charset="-128"/>
                <a:cs typeface="Times New Roman" panose="02020603050405020304" pitchFamily="18" charset="0"/>
              </a:rPr>
              <a:t>Cuestionario</a:t>
            </a:r>
            <a:endParaRPr lang="es-BO" sz="80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a:p>
            <a:pPr algn="l"/>
            <a:r>
              <a:rPr lang="es-MX" sz="800" b="0" i="0" u="none" strike="noStrike" baseline="0" dirty="0">
                <a:latin typeface="Arial" panose="020B0604020202020204" pitchFamily="34" charset="0"/>
              </a:rPr>
              <a:t>1 ¿Qué sucedió con la masa total al formar el óxido? Explica por qué.</a:t>
            </a:r>
          </a:p>
          <a:p>
            <a:pPr algn="l"/>
            <a:r>
              <a:rPr lang="es-MX" sz="800" b="0" i="0" u="none" strike="noStrike" baseline="0" dirty="0">
                <a:latin typeface="Arial" panose="020B0604020202020204" pitchFamily="34" charset="0"/>
              </a:rPr>
              <a:t>2 Calcula la masa de oxígeno que se unió usando tus medidas.</a:t>
            </a:r>
          </a:p>
          <a:p>
            <a:pPr algn="l"/>
            <a:r>
              <a:rPr lang="es-MX" sz="800" b="0" i="0" u="none" strike="noStrike" baseline="0" dirty="0">
                <a:latin typeface="Arial" panose="020B0604020202020204" pitchFamily="34" charset="0"/>
              </a:rPr>
              <a:t>3 ¿Cuál es el porcentaje experimental de oxígeno en el producto?</a:t>
            </a:r>
          </a:p>
          <a:p>
            <a:pPr algn="l"/>
            <a:r>
              <a:rPr lang="es-MX" sz="800" b="0" i="0" u="none" strike="noStrike" baseline="0" dirty="0">
                <a:latin typeface="Arial" panose="020B0604020202020204" pitchFamily="34" charset="0"/>
              </a:rPr>
              <a:t>4 ¿Qué fuentes de error pueden explicar la diferencia entre valor experimental y teórico?</a:t>
            </a:r>
          </a:p>
          <a:p>
            <a:pPr algn="l"/>
            <a:br>
              <a:rPr lang="en-US" sz="1050" dirty="0">
                <a:effectLst/>
                <a:latin typeface="Cambria" panose="02040503050406030204" pitchFamily="18" charset="0"/>
                <a:ea typeface="MS Mincho" panose="02020609040205080304" pitchFamily="49" charset="-128"/>
                <a:cs typeface="Times New Roman" panose="02020603050405020304" pitchFamily="18" charset="0"/>
              </a:rPr>
            </a:br>
            <a:endParaRPr lang="es-BO" sz="105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39" name="CuadroTexto 38">
            <a:extLst>
              <a:ext uri="{FF2B5EF4-FFF2-40B4-BE49-F238E27FC236}">
                <a16:creationId xmlns:a16="http://schemas.microsoft.com/office/drawing/2014/main" id="{23B5D48B-7F32-42CC-AFA9-9AA801A8ED75}"/>
              </a:ext>
            </a:extLst>
          </p:cNvPr>
          <p:cNvSpPr txBox="1"/>
          <p:nvPr/>
        </p:nvSpPr>
        <p:spPr>
          <a:xfrm>
            <a:off x="292796" y="4888882"/>
            <a:ext cx="5314628" cy="369332"/>
          </a:xfrm>
          <a:prstGeom prst="rect">
            <a:avLst/>
          </a:prstGeom>
          <a:noFill/>
        </p:spPr>
        <p:txBody>
          <a:bodyPr wrap="square" rtlCol="0">
            <a:spAutoFit/>
          </a:bodyPr>
          <a:lstStyle/>
          <a:p>
            <a:r>
              <a:rPr lang="es-MX" sz="1800" b="1" i="0" u="none" strike="noStrike" baseline="0" dirty="0">
                <a:latin typeface="Arial" panose="020B0604020202020204" pitchFamily="34" charset="0"/>
              </a:rPr>
              <a:t>Formación del óxido de cobre</a:t>
            </a:r>
            <a:r>
              <a:rPr lang="es-BO" dirty="0"/>
              <a:t> </a:t>
            </a:r>
          </a:p>
        </p:txBody>
      </p:sp>
    </p:spTree>
    <p:extLst>
      <p:ext uri="{BB962C8B-B14F-4D97-AF65-F5344CB8AC3E}">
        <p14:creationId xmlns:p14="http://schemas.microsoft.com/office/powerpoint/2010/main" val="1901937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Forma&#10;&#10;Descripción generada automáticamente con confianza baja">
            <a:extLst>
              <a:ext uri="{FF2B5EF4-FFF2-40B4-BE49-F238E27FC236}">
                <a16:creationId xmlns:a16="http://schemas.microsoft.com/office/drawing/2014/main" id="{C4996CB7-E5A3-47C8-95DE-BC797D125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ángulo 2">
            <a:extLst>
              <a:ext uri="{FF2B5EF4-FFF2-40B4-BE49-F238E27FC236}">
                <a16:creationId xmlns:a16="http://schemas.microsoft.com/office/drawing/2014/main" id="{7A1B04DA-F9D5-44B0-B6F7-EBDE2A48B0B5}"/>
              </a:ext>
            </a:extLst>
          </p:cNvPr>
          <p:cNvSpPr/>
          <p:nvPr/>
        </p:nvSpPr>
        <p:spPr>
          <a:xfrm>
            <a:off x="0" y="0"/>
            <a:ext cx="12192000" cy="64884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237D52A4-8BB8-4A39-A8BB-91C90D38E78A}"/>
              </a:ext>
            </a:extLst>
          </p:cNvPr>
          <p:cNvSpPr/>
          <p:nvPr/>
        </p:nvSpPr>
        <p:spPr>
          <a:xfrm>
            <a:off x="0" y="0"/>
            <a:ext cx="12192000" cy="70145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6" name="Imagen 5">
            <a:hlinkClick r:id="rId3" action="ppaction://hlinksldjump"/>
            <a:extLst>
              <a:ext uri="{FF2B5EF4-FFF2-40B4-BE49-F238E27FC236}">
                <a16:creationId xmlns:a16="http://schemas.microsoft.com/office/drawing/2014/main" id="{CB41F07C-56A0-4044-A9C6-F88E78832664}"/>
              </a:ext>
            </a:extLst>
          </p:cNvPr>
          <p:cNvPicPr>
            <a:picLocks noChangeAspect="1"/>
          </p:cNvPicPr>
          <p:nvPr/>
        </p:nvPicPr>
        <p:blipFill rotWithShape="1">
          <a:blip r:embed="rId4">
            <a:clrChange>
              <a:clrFrom>
                <a:srgbClr val="000000"/>
              </a:clrFrom>
              <a:clrTo>
                <a:srgbClr val="000000">
                  <a:alpha val="0"/>
                </a:srgbClr>
              </a:clrTo>
            </a:clrChange>
          </a:blip>
          <a:srcRect t="20117" b="23156"/>
          <a:stretch/>
        </p:blipFill>
        <p:spPr>
          <a:xfrm>
            <a:off x="851769" y="0"/>
            <a:ext cx="2198319" cy="701458"/>
          </a:xfrm>
          <a:prstGeom prst="rect">
            <a:avLst/>
          </a:prstGeom>
        </p:spPr>
      </p:pic>
      <p:pic>
        <p:nvPicPr>
          <p:cNvPr id="7" name="Gráfico 6" descr="Icono de menú de hamburguesa con relleno sólido">
            <a:extLst>
              <a:ext uri="{FF2B5EF4-FFF2-40B4-BE49-F238E27FC236}">
                <a16:creationId xmlns:a16="http://schemas.microsoft.com/office/drawing/2014/main" id="{B7C12897-7800-4F8D-99F0-7C0BA31AAE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6826" y="51670"/>
            <a:ext cx="598118" cy="598118"/>
          </a:xfrm>
          <a:prstGeom prst="rect">
            <a:avLst/>
          </a:prstGeom>
        </p:spPr>
      </p:pic>
      <p:sp>
        <p:nvSpPr>
          <p:cNvPr id="8" name="Diagrama de flujo: conector 7">
            <a:extLst>
              <a:ext uri="{FF2B5EF4-FFF2-40B4-BE49-F238E27FC236}">
                <a16:creationId xmlns:a16="http://schemas.microsoft.com/office/drawing/2014/main" id="{1AEC860D-63DE-47CE-A81C-A3E1B08D3908}"/>
              </a:ext>
            </a:extLst>
          </p:cNvPr>
          <p:cNvSpPr/>
          <p:nvPr/>
        </p:nvSpPr>
        <p:spPr>
          <a:xfrm>
            <a:off x="11559959" y="122129"/>
            <a:ext cx="457200" cy="457200"/>
          </a:xfrm>
          <a:prstGeom prst="flowChartConnector">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9" name="Gráfico 8" descr="Timbre con relleno sólido">
            <a:extLst>
              <a:ext uri="{FF2B5EF4-FFF2-40B4-BE49-F238E27FC236}">
                <a16:creationId xmlns:a16="http://schemas.microsoft.com/office/drawing/2014/main" id="{88AAB462-9E45-4641-9BA2-9187B46C71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927918" y="122129"/>
            <a:ext cx="457200" cy="457200"/>
          </a:xfrm>
          <a:prstGeom prst="rect">
            <a:avLst/>
          </a:prstGeom>
        </p:spPr>
      </p:pic>
      <p:pic>
        <p:nvPicPr>
          <p:cNvPr id="10" name="Gráfico 9" descr="Flecha arriba contorno">
            <a:extLst>
              <a:ext uri="{FF2B5EF4-FFF2-40B4-BE49-F238E27FC236}">
                <a16:creationId xmlns:a16="http://schemas.microsoft.com/office/drawing/2014/main" id="{375921F2-16A7-4194-BF8E-3B03E2C023C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51257" y="122129"/>
            <a:ext cx="457200" cy="457200"/>
          </a:xfrm>
          <a:prstGeom prst="rect">
            <a:avLst/>
          </a:prstGeom>
        </p:spPr>
      </p:pic>
      <p:pic>
        <p:nvPicPr>
          <p:cNvPr id="11" name="Gráfico 10" descr="Tabla con relleno sólido">
            <a:extLst>
              <a:ext uri="{FF2B5EF4-FFF2-40B4-BE49-F238E27FC236}">
                <a16:creationId xmlns:a16="http://schemas.microsoft.com/office/drawing/2014/main" id="{78F05B93-1225-42B5-8443-212830AD8EE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383298" y="0"/>
            <a:ext cx="457200" cy="701458"/>
          </a:xfrm>
          <a:prstGeom prst="rect">
            <a:avLst/>
          </a:prstGeom>
        </p:spPr>
      </p:pic>
      <p:sp>
        <p:nvSpPr>
          <p:cNvPr id="12" name="Rectángulo 11">
            <a:extLst>
              <a:ext uri="{FF2B5EF4-FFF2-40B4-BE49-F238E27FC236}">
                <a16:creationId xmlns:a16="http://schemas.microsoft.com/office/drawing/2014/main" id="{8CB32157-8365-4854-91D4-98E326ABD971}"/>
              </a:ext>
            </a:extLst>
          </p:cNvPr>
          <p:cNvSpPr/>
          <p:nvPr/>
        </p:nvSpPr>
        <p:spPr>
          <a:xfrm>
            <a:off x="3332185" y="203548"/>
            <a:ext cx="4980150" cy="35072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Rectángulo 12">
            <a:extLst>
              <a:ext uri="{FF2B5EF4-FFF2-40B4-BE49-F238E27FC236}">
                <a16:creationId xmlns:a16="http://schemas.microsoft.com/office/drawing/2014/main" id="{926F6C4A-8F6C-4AF5-8766-E5EAB778DA2F}"/>
              </a:ext>
            </a:extLst>
          </p:cNvPr>
          <p:cNvSpPr/>
          <p:nvPr/>
        </p:nvSpPr>
        <p:spPr>
          <a:xfrm>
            <a:off x="8312335" y="203548"/>
            <a:ext cx="719461" cy="350729"/>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4" name="Gráfico 13" descr="Lupa con relleno sólido">
            <a:extLst>
              <a:ext uri="{FF2B5EF4-FFF2-40B4-BE49-F238E27FC236}">
                <a16:creationId xmlns:a16="http://schemas.microsoft.com/office/drawing/2014/main" id="{B5616916-EF6C-43E8-B3FB-5903CB65ED0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523973" y="230819"/>
            <a:ext cx="296185" cy="296185"/>
          </a:xfrm>
          <a:prstGeom prst="rect">
            <a:avLst/>
          </a:prstGeom>
        </p:spPr>
      </p:pic>
      <p:sp>
        <p:nvSpPr>
          <p:cNvPr id="15" name="CuadroTexto 14">
            <a:extLst>
              <a:ext uri="{FF2B5EF4-FFF2-40B4-BE49-F238E27FC236}">
                <a16:creationId xmlns:a16="http://schemas.microsoft.com/office/drawing/2014/main" id="{D761BF5E-7222-4172-91C8-B3E8D0C91A39}"/>
              </a:ext>
            </a:extLst>
          </p:cNvPr>
          <p:cNvSpPr txBox="1"/>
          <p:nvPr/>
        </p:nvSpPr>
        <p:spPr>
          <a:xfrm>
            <a:off x="3332185" y="169463"/>
            <a:ext cx="2605414" cy="400110"/>
          </a:xfrm>
          <a:prstGeom prst="rect">
            <a:avLst/>
          </a:prstGeom>
          <a:noFill/>
        </p:spPr>
        <p:txBody>
          <a:bodyPr wrap="square" rtlCol="0">
            <a:spAutoFit/>
          </a:bodyPr>
          <a:lstStyle/>
          <a:p>
            <a:r>
              <a:rPr lang="es-MX" sz="2000" dirty="0">
                <a:latin typeface="K26AlphaCasual" panose="02000603000000000000" pitchFamily="2" charset="0"/>
                <a:ea typeface="K26AlphaCasual" panose="02000603000000000000" pitchFamily="2" charset="0"/>
              </a:rPr>
              <a:t>Buscar.</a:t>
            </a:r>
          </a:p>
        </p:txBody>
      </p:sp>
      <p:sp>
        <p:nvSpPr>
          <p:cNvPr id="16" name="Rectángulo 15">
            <a:extLst>
              <a:ext uri="{FF2B5EF4-FFF2-40B4-BE49-F238E27FC236}">
                <a16:creationId xmlns:a16="http://schemas.microsoft.com/office/drawing/2014/main" id="{1CF02319-A0E3-40BC-A135-0EDAC3EF508C}"/>
              </a:ext>
            </a:extLst>
          </p:cNvPr>
          <p:cNvSpPr/>
          <p:nvPr/>
        </p:nvSpPr>
        <p:spPr>
          <a:xfrm>
            <a:off x="338968" y="853336"/>
            <a:ext cx="8397147" cy="3826339"/>
          </a:xfrm>
          <a:prstGeom prst="rect">
            <a:avLst/>
          </a:prstGeom>
          <a:blipFill dpi="0" rotWithShape="1">
            <a:blip r:embed="rId1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7" name="Rectángulo 16">
            <a:extLst>
              <a:ext uri="{FF2B5EF4-FFF2-40B4-BE49-F238E27FC236}">
                <a16:creationId xmlns:a16="http://schemas.microsoft.com/office/drawing/2014/main" id="{0973D2E1-C5B2-432E-9B58-E8DAA89D0056}"/>
              </a:ext>
            </a:extLst>
          </p:cNvPr>
          <p:cNvSpPr/>
          <p:nvPr/>
        </p:nvSpPr>
        <p:spPr>
          <a:xfrm>
            <a:off x="9081622" y="930058"/>
            <a:ext cx="2764871" cy="150938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8" name="Rectángulo 17">
            <a:extLst>
              <a:ext uri="{FF2B5EF4-FFF2-40B4-BE49-F238E27FC236}">
                <a16:creationId xmlns:a16="http://schemas.microsoft.com/office/drawing/2014/main" id="{4BF3141C-596D-4116-8FAB-00A73C756775}"/>
              </a:ext>
            </a:extLst>
          </p:cNvPr>
          <p:cNvSpPr/>
          <p:nvPr/>
        </p:nvSpPr>
        <p:spPr>
          <a:xfrm>
            <a:off x="9081622" y="2912301"/>
            <a:ext cx="2764871" cy="150938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20" name="Conector recto 19">
            <a:extLst>
              <a:ext uri="{FF2B5EF4-FFF2-40B4-BE49-F238E27FC236}">
                <a16:creationId xmlns:a16="http://schemas.microsoft.com/office/drawing/2014/main" id="{62D0194E-F301-45E6-A27C-A09FCF5736BC}"/>
              </a:ext>
            </a:extLst>
          </p:cNvPr>
          <p:cNvCxnSpPr/>
          <p:nvPr/>
        </p:nvCxnSpPr>
        <p:spPr>
          <a:xfrm>
            <a:off x="338968" y="5270323"/>
            <a:ext cx="8326558"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1" name="Diagrama de flujo: conector 20">
            <a:extLst>
              <a:ext uri="{FF2B5EF4-FFF2-40B4-BE49-F238E27FC236}">
                <a16:creationId xmlns:a16="http://schemas.microsoft.com/office/drawing/2014/main" id="{6F762B21-4D5C-4380-BDD8-65B854ABD5A3}"/>
              </a:ext>
            </a:extLst>
          </p:cNvPr>
          <p:cNvSpPr/>
          <p:nvPr/>
        </p:nvSpPr>
        <p:spPr>
          <a:xfrm>
            <a:off x="292796" y="5355478"/>
            <a:ext cx="457200" cy="457200"/>
          </a:xfrm>
          <a:prstGeom prst="flowChartConnector">
            <a:avLst/>
          </a:prstGeom>
          <a:blipFill dpi="0" rotWithShape="1">
            <a:blip r:embed="rId16">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2" name="CuadroTexto 21">
            <a:extLst>
              <a:ext uri="{FF2B5EF4-FFF2-40B4-BE49-F238E27FC236}">
                <a16:creationId xmlns:a16="http://schemas.microsoft.com/office/drawing/2014/main" id="{1FA5125E-0644-4E87-9085-2EAB098B4001}"/>
              </a:ext>
            </a:extLst>
          </p:cNvPr>
          <p:cNvSpPr txBox="1"/>
          <p:nvPr/>
        </p:nvSpPr>
        <p:spPr>
          <a:xfrm>
            <a:off x="292795" y="4685076"/>
            <a:ext cx="4766155" cy="369332"/>
          </a:xfrm>
          <a:prstGeom prst="rect">
            <a:avLst/>
          </a:prstGeom>
          <a:noFill/>
        </p:spPr>
        <p:txBody>
          <a:bodyPr wrap="square" rtlCol="0">
            <a:spAutoFit/>
          </a:bodyPr>
          <a:lstStyle/>
          <a:p>
            <a:r>
              <a:rPr lang="es-MX" sz="1800" b="1" i="0" u="none" strike="noStrike" baseline="0" dirty="0">
                <a:latin typeface="Arial" panose="020B0604020202020204" pitchFamily="34" charset="0"/>
              </a:rPr>
              <a:t>Formación del óxido de cobre</a:t>
            </a:r>
            <a:endParaRPr lang="es-MX" dirty="0">
              <a:latin typeface="Bahnschrift" panose="020B0502040204020203" pitchFamily="34" charset="0"/>
            </a:endParaRPr>
          </a:p>
        </p:txBody>
      </p:sp>
      <p:sp>
        <p:nvSpPr>
          <p:cNvPr id="27" name="CuadroTexto 26">
            <a:extLst>
              <a:ext uri="{FF2B5EF4-FFF2-40B4-BE49-F238E27FC236}">
                <a16:creationId xmlns:a16="http://schemas.microsoft.com/office/drawing/2014/main" id="{DA126301-FB68-4E59-BFB2-155CC45564B0}"/>
              </a:ext>
            </a:extLst>
          </p:cNvPr>
          <p:cNvSpPr txBox="1"/>
          <p:nvPr/>
        </p:nvSpPr>
        <p:spPr>
          <a:xfrm>
            <a:off x="851769" y="5332350"/>
            <a:ext cx="1741118" cy="461665"/>
          </a:xfrm>
          <a:prstGeom prst="rect">
            <a:avLst/>
          </a:prstGeom>
          <a:noFill/>
        </p:spPr>
        <p:txBody>
          <a:bodyPr wrap="square" rtlCol="0">
            <a:spAutoFit/>
          </a:bodyPr>
          <a:lstStyle/>
          <a:p>
            <a:r>
              <a:rPr lang="es-MX" sz="2400" b="1" dirty="0">
                <a:latin typeface="HP Simplified" panose="020B0604020204020204" pitchFamily="34" charset="0"/>
              </a:rPr>
              <a:t>CIENTICERO</a:t>
            </a:r>
          </a:p>
        </p:txBody>
      </p:sp>
      <p:sp>
        <p:nvSpPr>
          <p:cNvPr id="34" name="Rectángulo 33">
            <a:extLst>
              <a:ext uri="{FF2B5EF4-FFF2-40B4-BE49-F238E27FC236}">
                <a16:creationId xmlns:a16="http://schemas.microsoft.com/office/drawing/2014/main" id="{7E059DDA-D096-44E8-AFD6-83096F540AF9}"/>
              </a:ext>
            </a:extLst>
          </p:cNvPr>
          <p:cNvSpPr/>
          <p:nvPr/>
        </p:nvSpPr>
        <p:spPr>
          <a:xfrm>
            <a:off x="6901841" y="5270323"/>
            <a:ext cx="1741118" cy="338548"/>
          </a:xfrm>
          <a:prstGeom prst="rect">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latin typeface="Bahnschrift" panose="020B0502040204020203" pitchFamily="34" charset="0"/>
              </a:rPr>
              <a:t>Suscribirse</a:t>
            </a:r>
          </a:p>
        </p:txBody>
      </p:sp>
      <p:pic>
        <p:nvPicPr>
          <p:cNvPr id="35" name="Gráfico 34" descr="Señal de pulgar hacia arriba  con relleno sólido">
            <a:extLst>
              <a:ext uri="{FF2B5EF4-FFF2-40B4-BE49-F238E27FC236}">
                <a16:creationId xmlns:a16="http://schemas.microsoft.com/office/drawing/2014/main" id="{D382BB33-A119-43A8-81AB-7F2869DF660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901841" y="4931776"/>
            <a:ext cx="276999" cy="276999"/>
          </a:xfrm>
          <a:prstGeom prst="rect">
            <a:avLst/>
          </a:prstGeom>
        </p:spPr>
      </p:pic>
      <p:pic>
        <p:nvPicPr>
          <p:cNvPr id="36" name="Gráfico 35" descr="Señal de pulgar hacia arriba  con relleno sólido">
            <a:extLst>
              <a:ext uri="{FF2B5EF4-FFF2-40B4-BE49-F238E27FC236}">
                <a16:creationId xmlns:a16="http://schemas.microsoft.com/office/drawing/2014/main" id="{EA981C05-CE74-4A42-981B-2C5E8F3ABFB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rot="10800000">
            <a:off x="7340501" y="4946010"/>
            <a:ext cx="276999" cy="276999"/>
          </a:xfrm>
          <a:prstGeom prst="rect">
            <a:avLst/>
          </a:prstGeom>
        </p:spPr>
      </p:pic>
      <p:sp>
        <p:nvSpPr>
          <p:cNvPr id="37" name="CuadroTexto 36">
            <a:extLst>
              <a:ext uri="{FF2B5EF4-FFF2-40B4-BE49-F238E27FC236}">
                <a16:creationId xmlns:a16="http://schemas.microsoft.com/office/drawing/2014/main" id="{96522598-538C-4F09-A1E6-A05CED843E18}"/>
              </a:ext>
            </a:extLst>
          </p:cNvPr>
          <p:cNvSpPr txBox="1"/>
          <p:nvPr/>
        </p:nvSpPr>
        <p:spPr>
          <a:xfrm>
            <a:off x="9113278" y="941870"/>
            <a:ext cx="2764870" cy="1095685"/>
          </a:xfrm>
          <a:prstGeom prst="rect">
            <a:avLst/>
          </a:prstGeom>
          <a:noFill/>
        </p:spPr>
        <p:txBody>
          <a:bodyPr wrap="square">
            <a:spAutoFit/>
          </a:bodyPr>
          <a:lstStyle/>
          <a:p>
            <a:pPr>
              <a:lnSpc>
                <a:spcPct val="115000"/>
              </a:lnSpc>
              <a:spcBef>
                <a:spcPts val="1000"/>
              </a:spcBef>
            </a:pPr>
            <a:r>
              <a:rPr lang="en-US" sz="800" b="1" dirty="0" err="1">
                <a:solidFill>
                  <a:schemeClr val="bg1"/>
                </a:solidFill>
                <a:effectLst/>
                <a:latin typeface="Calibri" panose="020F0502020204030204" pitchFamily="34" charset="0"/>
                <a:ea typeface="MS Gothic" panose="020B0609070205080204" pitchFamily="49" charset="-128"/>
                <a:cs typeface="Times New Roman" panose="02020603050405020304" pitchFamily="18" charset="0"/>
              </a:rPr>
              <a:t>Conclusión</a:t>
            </a:r>
            <a:endParaRPr lang="es-BO" sz="80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a:p>
            <a:pPr algn="l"/>
            <a:r>
              <a:rPr lang="es-MX" sz="800" b="0" i="0" u="none" strike="noStrike" baseline="0" dirty="0">
                <a:latin typeface="Arial" panose="020B0604020202020204" pitchFamily="34" charset="0"/>
              </a:rPr>
              <a:t>Al calentar cobre en presencia de aire se forma óxido y la masa del sistema aumenta exactamente por</a:t>
            </a:r>
          </a:p>
          <a:p>
            <a:pPr algn="l"/>
            <a:r>
              <a:rPr lang="es-MX" sz="800" b="0" i="0" u="none" strike="noStrike" baseline="0" dirty="0">
                <a:latin typeface="Arial" panose="020B0604020202020204" pitchFamily="34" charset="0"/>
              </a:rPr>
              <a:t>la masa de oxígeno que se unió. Los cálculos muestran que la proporción masa Cu : masa O es</a:t>
            </a:r>
          </a:p>
          <a:p>
            <a:pPr algn="l"/>
            <a:r>
              <a:rPr lang="es-MX" sz="800" b="0" i="0" u="none" strike="noStrike" baseline="0" dirty="0">
                <a:latin typeface="Arial" panose="020B0604020202020204" pitchFamily="34" charset="0"/>
              </a:rPr>
              <a:t>constante, lo que confirma las leyes ponderales: la masa se conserva y los elementos se combinan en</a:t>
            </a:r>
          </a:p>
          <a:p>
            <a:pPr algn="l"/>
            <a:r>
              <a:rPr lang="es-BO" sz="800" b="0" i="0" u="none" strike="noStrike" baseline="0" dirty="0">
                <a:latin typeface="Arial" panose="020B0604020202020204" pitchFamily="34" charset="0"/>
              </a:rPr>
              <a:t>proporciones definidas.</a:t>
            </a:r>
            <a:endParaRPr lang="es-BO" sz="8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38" name="CuadroTexto 37">
            <a:extLst>
              <a:ext uri="{FF2B5EF4-FFF2-40B4-BE49-F238E27FC236}">
                <a16:creationId xmlns:a16="http://schemas.microsoft.com/office/drawing/2014/main" id="{040E5257-BE17-428F-B172-D14C4E3374C4}"/>
              </a:ext>
            </a:extLst>
          </p:cNvPr>
          <p:cNvSpPr txBox="1"/>
          <p:nvPr/>
        </p:nvSpPr>
        <p:spPr>
          <a:xfrm>
            <a:off x="9031796" y="3037247"/>
            <a:ext cx="2997590" cy="1201483"/>
          </a:xfrm>
          <a:prstGeom prst="rect">
            <a:avLst/>
          </a:prstGeom>
          <a:noFill/>
        </p:spPr>
        <p:txBody>
          <a:bodyPr wrap="square">
            <a:spAutoFit/>
          </a:bodyPr>
          <a:lstStyle/>
          <a:p>
            <a:pPr>
              <a:lnSpc>
                <a:spcPct val="115000"/>
              </a:lnSpc>
              <a:spcBef>
                <a:spcPts val="1000"/>
              </a:spcBef>
            </a:pPr>
            <a:r>
              <a:rPr lang="en-US" sz="1050" b="1" dirty="0" err="1">
                <a:solidFill>
                  <a:schemeClr val="bg1"/>
                </a:solidFill>
                <a:effectLst/>
                <a:latin typeface="Calibri" panose="020F0502020204030204" pitchFamily="34" charset="0"/>
                <a:ea typeface="MS Gothic" panose="020B0609070205080204" pitchFamily="49" charset="-128"/>
                <a:cs typeface="Times New Roman" panose="02020603050405020304" pitchFamily="18" charset="0"/>
              </a:rPr>
              <a:t>Bibliografía</a:t>
            </a:r>
            <a:endParaRPr lang="es-BO" sz="1050" b="1" dirty="0">
              <a:solidFill>
                <a:schemeClr val="bg1"/>
              </a:solidFill>
              <a:effectLst/>
              <a:latin typeface="Calibri" panose="020F0502020204030204" pitchFamily="34" charset="0"/>
              <a:ea typeface="MS Gothic" panose="020B0609070205080204" pitchFamily="49" charset="-128"/>
              <a:cs typeface="Times New Roman" panose="02020603050405020304" pitchFamily="18" charset="0"/>
            </a:endParaRPr>
          </a:p>
          <a:p>
            <a:pPr algn="l"/>
            <a:r>
              <a:rPr lang="es-BO" sz="1000" b="0" i="0" u="none" strike="noStrike" baseline="0" dirty="0">
                <a:latin typeface="Arial" panose="020B0604020202020204" pitchFamily="34" charset="0"/>
              </a:rPr>
              <a:t>Atkins, P.; Jones, L. Química: conceptos esenciales.</a:t>
            </a:r>
          </a:p>
          <a:p>
            <a:pPr algn="l"/>
            <a:r>
              <a:rPr lang="es-MX" sz="1000" b="0" i="0" u="none" strike="noStrike" baseline="0" dirty="0">
                <a:latin typeface="Arial" panose="020B0604020202020204" pitchFamily="34" charset="0"/>
              </a:rPr>
              <a:t>• Brown, </a:t>
            </a:r>
            <a:r>
              <a:rPr lang="es-MX" sz="1000" b="0" i="0" u="none" strike="noStrike" baseline="0" dirty="0" err="1">
                <a:latin typeface="Arial" panose="020B0604020202020204" pitchFamily="34" charset="0"/>
              </a:rPr>
              <a:t>LeMay</a:t>
            </a:r>
            <a:r>
              <a:rPr lang="es-MX" sz="1000" b="0" i="0" u="none" strike="noStrike" baseline="0" dirty="0">
                <a:latin typeface="Arial" panose="020B0604020202020204" pitchFamily="34" charset="0"/>
              </a:rPr>
              <a:t>, </a:t>
            </a:r>
            <a:r>
              <a:rPr lang="es-MX" sz="1000" b="0" i="0" u="none" strike="noStrike" baseline="0" dirty="0" err="1">
                <a:latin typeface="Arial" panose="020B0604020202020204" pitchFamily="34" charset="0"/>
              </a:rPr>
              <a:t>Bursten</a:t>
            </a:r>
            <a:r>
              <a:rPr lang="es-MX" sz="1000" b="0" i="0" u="none" strike="noStrike" baseline="0" dirty="0">
                <a:latin typeface="Arial" panose="020B0604020202020204" pitchFamily="34" charset="0"/>
              </a:rPr>
              <a:t>. Química: La ciencia central.</a:t>
            </a:r>
          </a:p>
          <a:p>
            <a:pPr algn="l"/>
            <a:r>
              <a:rPr lang="es-MX" sz="1000" b="0" i="0" u="none" strike="noStrike" baseline="0" dirty="0">
                <a:latin typeface="Arial" panose="020B0604020202020204" pitchFamily="34" charset="0"/>
              </a:rPr>
              <a:t>• Khan </a:t>
            </a:r>
            <a:r>
              <a:rPr lang="es-MX" sz="1000" b="0" i="0" u="none" strike="noStrike" baseline="0" dirty="0" err="1">
                <a:latin typeface="Arial" panose="020B0604020202020204" pitchFamily="34" charset="0"/>
              </a:rPr>
              <a:t>Academy</a:t>
            </a:r>
            <a:r>
              <a:rPr lang="es-MX" sz="1000" b="0" i="0" u="none" strike="noStrike" baseline="0" dirty="0">
                <a:latin typeface="Arial" panose="020B0604020202020204" pitchFamily="34" charset="0"/>
              </a:rPr>
              <a:t> – Sección de estequiometría y leyes ponderales.</a:t>
            </a:r>
            <a:endParaRPr lang="es-BO" sz="1000" dirty="0">
              <a:effectLst/>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42833569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764</TotalTime>
  <Words>531</Words>
  <Application>Microsoft Office PowerPoint</Application>
  <PresentationFormat>Panorámica</PresentationFormat>
  <Paragraphs>59</Paragraphs>
  <Slides>5</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5</vt:i4>
      </vt:variant>
    </vt:vector>
  </HeadingPairs>
  <TitlesOfParts>
    <vt:vector size="16" baseType="lpstr">
      <vt:lpstr>AdobePiStd</vt:lpstr>
      <vt:lpstr>Aharoni</vt:lpstr>
      <vt:lpstr>Arial</vt:lpstr>
      <vt:lpstr>Bahnschrift</vt:lpstr>
      <vt:lpstr>Calibri</vt:lpstr>
      <vt:lpstr>Calibri Light</vt:lpstr>
      <vt:lpstr>Cambria</vt:lpstr>
      <vt:lpstr>HP Simplified</vt:lpstr>
      <vt:lpstr>K26AlphaCasual</vt:lpstr>
      <vt:lpstr>Symbol</vt:lpstr>
      <vt:lpstr>Tema de Office</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 DOMINGUEZ AZAMAR</dc:creator>
  <cp:lastModifiedBy>Usuario</cp:lastModifiedBy>
  <cp:revision>72</cp:revision>
  <dcterms:created xsi:type="dcterms:W3CDTF">2021-05-31T23:15:11Z</dcterms:created>
  <dcterms:modified xsi:type="dcterms:W3CDTF">2025-10-29T00:56:21Z</dcterms:modified>
</cp:coreProperties>
</file>