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60" r:id="rId3"/>
    <p:sldId id="261" r:id="rId4"/>
    <p:sldId id="259" r:id="rId5"/>
    <p:sldId id="262" r:id="rId6"/>
    <p:sldId id="263" r:id="rId7"/>
    <p:sldId id="264" r:id="rId8"/>
  </p:sldIdLst>
  <p:sldSz cx="12192000" cy="6858000"/>
  <p:notesSz cx="6858000" cy="9144000"/>
  <p:embeddedFontLst>
    <p:embeddedFont>
      <p:font typeface="Aharoni" panose="02010803020104030203" pitchFamily="2" charset="-79"/>
      <p:bold r:id="rId9"/>
    </p:embeddedFont>
    <p:embeddedFont>
      <p:font typeface="Amasis MT Pro Black" panose="02040A04050005020304" pitchFamily="18" charset="0"/>
      <p:bold r:id="rId10"/>
      <p:boldItalic r:id="rId11"/>
    </p:embeddedFont>
    <p:embeddedFont>
      <p:font typeface="Arial Nova Light" panose="020B0304020202020204" pitchFamily="34" charset="0"/>
      <p:regular r:id="rId12"/>
      <p: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B663C-A8FD-4028-9846-3FED7BF21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CE560A-747D-4119-9149-FC99942C1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B1785-0807-4841-9711-0D667296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C0F1A6-4C1D-4017-9AF4-7794D688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EF6D04-1659-4462-9A22-3F55CC4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606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7861B-51DC-4F21-8D04-8B580E88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41F0B-9911-40C2-9A35-54B14C50B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96C582-5FF1-4A9E-BB59-73364275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DC5646-84A9-46C9-8D1B-6C03492E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1F7848-AED5-4A4C-A6F8-9B839AD1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7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21CC7-9D99-431C-B241-25086A5B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77C1DB-1D1E-461D-9B96-D9B2A7B1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A9AE2-2BD8-4AA2-AA38-345E3CC9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2B66D2-90A4-45D4-B8D7-0443DF15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65412F-E4E6-4AF6-9F37-95201490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780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48E4F-430A-4638-97D0-28D5B212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BA9AF-D6C0-4150-85C8-BD63A1C30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E693E8-D8F5-445B-985A-2DDDFE64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906EB3-A5AA-405B-B017-17BFABB2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11D237-B80F-4B5F-B737-875C77DF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D7F4A7-9350-489F-9028-629EF37C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630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AEE11-AF97-4263-87B5-3F145F08A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3EF3D8-A01A-45A4-8C6E-933B3982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9235FD-46C0-4F39-8009-93BE34BAF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B6E972-0808-43C7-A133-3B1A682FA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02A861-7CEA-4319-B484-F0DDD7945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6ECC85-952A-4618-B542-743A36DE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B843B6-4326-4FE5-AC11-31925E57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BDE33E-601A-4065-B69E-56CAE984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392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66642-68C4-45B7-B38B-5FAF58C6E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064EB2-F2EC-46DC-BFCD-B67C5C4A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2E1BCC-916F-45D4-A438-8CD6CC8F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FBFE12-8D89-4700-AFC4-09048EE4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188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85FBC5-5C41-4416-BB0D-33206109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60312F-80C3-4C6B-A6D0-8430FB2B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60DEE2-4D8C-4FAE-8F8F-F7EEE5C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993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CBF49-C048-41A8-8FF8-C3DAAA52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59D454-1D21-40F4-9D5D-773BF68D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CDBCF0-AAD8-4E29-8BCB-2AFAC7E83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994611-4795-4ED6-AE77-6F497E45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1437F7-EF1A-42B5-9FF5-6CDF835F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B4E699-963F-4AB5-A138-BF2B059E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33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10D11-32C3-4E6B-BCE2-895AA9EE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6218C3-6FDF-475D-85CE-4F5622E0B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D7777D-2918-46A9-8DDA-FF8FABB1E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3CDC9B-9C67-43E4-9371-8B0C57A0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29CD41-6BAC-4295-A60B-8B4E78B7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F21DE9-8F59-4BF9-BAE5-1EB39790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548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0926F-F0DA-4D99-9D28-C45544B6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60E961-6C48-498A-A098-0FEC80BCC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FAA9EC-0003-4A57-9A92-5183290C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3C33DD-F722-49E3-99D3-523A7FAE7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35BC10-B5D4-4934-9B50-F8D422F8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641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72F542-6AFF-4849-B51D-01280A362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DA31DF-33E6-4164-B01F-425186051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A7BEC2-A503-4F88-ADCE-AF3525CC2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71A8C1-3386-4D24-88A9-8FD09F27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8F97CC-4786-4631-B587-13A09C83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803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3B18B8-E507-463C-ADE4-A5F5AD25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A0968F-1E3F-4F14-8B1F-8E2C0EB7C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9E7076-89E9-4BAC-85E5-2CEE29993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306EC-DBA7-4D1C-B8A6-D531FA47D750}" type="datetimeFigureOut">
              <a:rPr lang="es-MX" smtClean="0"/>
              <a:t>28/10/2025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53C5FB-A4A9-452A-A439-E0DFF0526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2E23DF-CCE3-41AA-936C-42EEC0E48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48D4B-8BAF-4718-8A76-406CB38AA7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631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4.svg"/><Relationship Id="rId12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.sv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9.jpg"/><Relationship Id="rId9" Type="http://schemas.openxmlformats.org/officeDocument/2006/relationships/image" Target="../media/image6.sv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image" Target="../media/image17.jpeg"/><Relationship Id="rId7" Type="http://schemas.openxmlformats.org/officeDocument/2006/relationships/image" Target="../media/image4.svg"/><Relationship Id="rId12" Type="http://schemas.openxmlformats.org/officeDocument/2006/relationships/image" Target="../media/image19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1.sv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8.jpg"/><Relationship Id="rId9" Type="http://schemas.openxmlformats.org/officeDocument/2006/relationships/image" Target="../media/image6.sv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.jpg"/><Relationship Id="rId7" Type="http://schemas.openxmlformats.org/officeDocument/2006/relationships/image" Target="../media/image4.sv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2.jp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0F391D-3308-4A31-AD0F-7D7E8ED5CC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BA22A9-E9EE-4D6B-AD2B-1713BDC1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C5925B0-6CD1-4AE2-A12D-09438A5E9874}"/>
              </a:ext>
            </a:extLst>
          </p:cNvPr>
          <p:cNvSpPr/>
          <p:nvPr/>
        </p:nvSpPr>
        <p:spPr>
          <a:xfrm>
            <a:off x="3569918" y="211376"/>
            <a:ext cx="5052164" cy="6435247"/>
          </a:xfrm>
          <a:prstGeom prst="roundRect">
            <a:avLst>
              <a:gd name="adj" fmla="val 5262"/>
            </a:avLst>
          </a:prstGeom>
          <a:solidFill>
            <a:schemeClr val="bg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70147F-6112-4633-AD33-CFDF3292B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7" y="0"/>
            <a:ext cx="2315923" cy="13027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83232B4-6357-43A3-968B-CCE1331AB83B}"/>
              </a:ext>
            </a:extLst>
          </p:cNvPr>
          <p:cNvSpPr txBox="1"/>
          <p:nvPr/>
        </p:nvSpPr>
        <p:spPr>
          <a:xfrm>
            <a:off x="3134547" y="651353"/>
            <a:ext cx="5896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!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Determinación</a:t>
            </a:r>
            <a:r>
              <a:rPr lang="en-US" b="1" dirty="0">
                <a:solidFill>
                  <a:schemeClr val="bg1"/>
                </a:solidFill>
              </a:rPr>
              <a:t> de la </a:t>
            </a:r>
            <a:r>
              <a:rPr lang="en-US" b="1" dirty="0" err="1">
                <a:solidFill>
                  <a:schemeClr val="bg1"/>
                </a:solidFill>
              </a:rPr>
              <a:t>relación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estequiométrica</a:t>
            </a:r>
            <a:r>
              <a:rPr lang="en-US" b="1" dirty="0">
                <a:solidFill>
                  <a:schemeClr val="bg1"/>
                </a:solidFill>
              </a:rPr>
              <a:t> entre </a:t>
            </a:r>
            <a:r>
              <a:rPr lang="en-US" b="1" dirty="0" err="1">
                <a:solidFill>
                  <a:schemeClr val="bg1"/>
                </a:solidFill>
              </a:rPr>
              <a:t>magnesio</a:t>
            </a:r>
            <a:r>
              <a:rPr lang="en-US" b="1" dirty="0">
                <a:solidFill>
                  <a:schemeClr val="bg1"/>
                </a:solidFill>
              </a:rPr>
              <a:t> y </a:t>
            </a:r>
            <a:r>
              <a:rPr lang="en-US" b="1" dirty="0" err="1">
                <a:solidFill>
                  <a:schemeClr val="bg1"/>
                </a:solidFill>
              </a:rPr>
              <a:t>oxígeno</a:t>
            </a:r>
            <a:r>
              <a:rPr lang="en-US" b="1" dirty="0">
                <a:solidFill>
                  <a:schemeClr val="bg1"/>
                </a:solidFill>
              </a:rPr>
              <a:t>!</a:t>
            </a:r>
            <a:endParaRPr lang="es-BO" b="1" dirty="0">
              <a:solidFill>
                <a:schemeClr val="bg1"/>
              </a:solidFill>
            </a:endParaRPr>
          </a:p>
          <a:p>
            <a:pPr algn="ctr"/>
            <a:endParaRPr lang="es-MX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6CC71B-0296-4C07-878A-7721A23A72B8}"/>
              </a:ext>
            </a:extLst>
          </p:cNvPr>
          <p:cNvSpPr/>
          <p:nvPr/>
        </p:nvSpPr>
        <p:spPr>
          <a:xfrm>
            <a:off x="3890375" y="2235113"/>
            <a:ext cx="4411250" cy="475989"/>
          </a:xfrm>
          <a:prstGeom prst="rect">
            <a:avLst/>
          </a:prstGeom>
          <a:solidFill>
            <a:schemeClr val="bg1">
              <a:lumMod val="8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7AFEFC-4BC1-47B9-B35F-877CBBD82CBA}"/>
              </a:ext>
            </a:extLst>
          </p:cNvPr>
          <p:cNvSpPr/>
          <p:nvPr/>
        </p:nvSpPr>
        <p:spPr>
          <a:xfrm>
            <a:off x="3890375" y="3259618"/>
            <a:ext cx="4411250" cy="475989"/>
          </a:xfrm>
          <a:prstGeom prst="rect">
            <a:avLst/>
          </a:prstGeom>
          <a:solidFill>
            <a:schemeClr val="bg1">
              <a:lumMod val="8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936EC0-B97A-46EA-A3C1-ECE68F056A20}"/>
              </a:ext>
            </a:extLst>
          </p:cNvPr>
          <p:cNvSpPr txBox="1"/>
          <p:nvPr/>
        </p:nvSpPr>
        <p:spPr>
          <a:xfrm>
            <a:off x="3890375" y="1837726"/>
            <a:ext cx="115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Usuario: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0F147A-CD31-4D1C-8C35-F2960D8D075A}"/>
              </a:ext>
            </a:extLst>
          </p:cNvPr>
          <p:cNvSpPr txBox="1"/>
          <p:nvPr/>
        </p:nvSpPr>
        <p:spPr>
          <a:xfrm>
            <a:off x="3890374" y="2863575"/>
            <a:ext cx="149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Contraseña:</a:t>
            </a:r>
          </a:p>
        </p:txBody>
      </p:sp>
      <p:sp>
        <p:nvSpPr>
          <p:cNvPr id="11" name="CuadroTexto 10">
            <a:hlinkClick r:id="rId4" action="ppaction://hlinksldjump"/>
            <a:extLst>
              <a:ext uri="{FF2B5EF4-FFF2-40B4-BE49-F238E27FC236}">
                <a16:creationId xmlns:a16="http://schemas.microsoft.com/office/drawing/2014/main" id="{E14BA0A3-4A2C-4220-8072-7FA0400E22B6}"/>
              </a:ext>
            </a:extLst>
          </p:cNvPr>
          <p:cNvSpPr txBox="1"/>
          <p:nvPr/>
        </p:nvSpPr>
        <p:spPr>
          <a:xfrm>
            <a:off x="5414376" y="4334729"/>
            <a:ext cx="1337154" cy="400110"/>
          </a:xfrm>
          <a:prstGeom prst="rect">
            <a:avLst/>
          </a:prstGeom>
          <a:solidFill>
            <a:srgbClr val="FF15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Entrar.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080DFD-BDBC-421D-A8A0-196B61CA1BFF}"/>
              </a:ext>
            </a:extLst>
          </p:cNvPr>
          <p:cNvSpPr txBox="1"/>
          <p:nvPr/>
        </p:nvSpPr>
        <p:spPr>
          <a:xfrm>
            <a:off x="3890374" y="2304601"/>
            <a:ext cx="4006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*****************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B26B58-1386-49AB-B9A9-9E4BA2152579}"/>
              </a:ext>
            </a:extLst>
          </p:cNvPr>
          <p:cNvSpPr txBox="1"/>
          <p:nvPr/>
        </p:nvSpPr>
        <p:spPr>
          <a:xfrm>
            <a:off x="3890374" y="3359918"/>
            <a:ext cx="4006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*****************</a:t>
            </a:r>
          </a:p>
        </p:txBody>
      </p:sp>
    </p:spTree>
    <p:extLst>
      <p:ext uri="{BB962C8B-B14F-4D97-AF65-F5344CB8AC3E}">
        <p14:creationId xmlns:p14="http://schemas.microsoft.com/office/powerpoint/2010/main" val="189324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2027">
        <p:fade/>
      </p:transition>
    </mc:Choice>
    <mc:Fallback xmlns="">
      <p:transition spd="med" advTm="1202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7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 animBg="1"/>
      <p:bldP spid="9" grpId="0"/>
      <p:bldP spid="10" grpId="0"/>
      <p:bldP spid="11" grpId="0" animBg="1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29A5DA-4019-48CC-B44C-9760A8BA83F8}"/>
              </a:ext>
            </a:extLst>
          </p:cNvPr>
          <p:cNvSpPr/>
          <p:nvPr/>
        </p:nvSpPr>
        <p:spPr>
          <a:xfrm>
            <a:off x="0" y="13447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58E8B9-1CBD-4F77-803A-183308DAD2A2}"/>
              </a:ext>
            </a:extLst>
          </p:cNvPr>
          <p:cNvSpPr/>
          <p:nvPr/>
        </p:nvSpPr>
        <p:spPr>
          <a:xfrm>
            <a:off x="0" y="0"/>
            <a:ext cx="12192000" cy="7640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306A8B-862B-4C21-9FF0-BCDFFC04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8" y="-112734"/>
            <a:ext cx="1802590" cy="10139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85796C-7E64-455D-85E3-E57D121B7CEA}"/>
              </a:ext>
            </a:extLst>
          </p:cNvPr>
          <p:cNvSpPr txBox="1"/>
          <p:nvPr/>
        </p:nvSpPr>
        <p:spPr>
          <a:xfrm>
            <a:off x="2255846" y="197378"/>
            <a:ext cx="6544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Introducción	Objetivo	    Materiales        Procedimiento	   </a:t>
            </a:r>
          </a:p>
        </p:txBody>
      </p:sp>
      <p:pic>
        <p:nvPicPr>
          <p:cNvPr id="6" name="Gráfico 5" descr="Timbre con relleno sólido">
            <a:extLst>
              <a:ext uri="{FF2B5EF4-FFF2-40B4-BE49-F238E27FC236}">
                <a16:creationId xmlns:a16="http://schemas.microsoft.com/office/drawing/2014/main" id="{9F243CE2-8906-4A89-AA31-4195B7AA6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9258879" y="169104"/>
            <a:ext cx="382042" cy="382042"/>
          </a:xfrm>
          <a:prstGeom prst="rect">
            <a:avLst/>
          </a:prstGeom>
        </p:spPr>
      </p:pic>
      <p:pic>
        <p:nvPicPr>
          <p:cNvPr id="7" name="Gráfico 6" descr="Lupa con relleno sólido">
            <a:extLst>
              <a:ext uri="{FF2B5EF4-FFF2-40B4-BE49-F238E27FC236}">
                <a16:creationId xmlns:a16="http://schemas.microsoft.com/office/drawing/2014/main" id="{03AE0465-E3F5-4FE3-A92B-1778803C6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6154" y="184667"/>
            <a:ext cx="382043" cy="382043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B751BEB-A024-4090-A8C9-6C702D3B6A5C}"/>
              </a:ext>
            </a:extLst>
          </p:cNvPr>
          <p:cNvSpPr/>
          <p:nvPr/>
        </p:nvSpPr>
        <p:spPr>
          <a:xfrm>
            <a:off x="10613430" y="225470"/>
            <a:ext cx="1351942" cy="32567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40CA66-F2C8-4419-A988-B774A91A57F2}"/>
              </a:ext>
            </a:extLst>
          </p:cNvPr>
          <p:cNvSpPr txBox="1"/>
          <p:nvPr/>
        </p:nvSpPr>
        <p:spPr>
          <a:xfrm>
            <a:off x="10845307" y="209578"/>
            <a:ext cx="88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Buscar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715F9A-493E-4E1D-9FCB-54CCE1A7E8EB}"/>
              </a:ext>
            </a:extLst>
          </p:cNvPr>
          <p:cNvSpPr txBox="1"/>
          <p:nvPr/>
        </p:nvSpPr>
        <p:spPr>
          <a:xfrm>
            <a:off x="226628" y="1054159"/>
            <a:ext cx="4605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INTRODUCCION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D23C7E8-1BD3-47D9-AB71-30B3A5584851}"/>
              </a:ext>
            </a:extLst>
          </p:cNvPr>
          <p:cNvSpPr txBox="1"/>
          <p:nvPr/>
        </p:nvSpPr>
        <p:spPr>
          <a:xfrm>
            <a:off x="226628" y="1638935"/>
            <a:ext cx="1173874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La estequiometría es la parte de la química que estudia las cantidades de las sustancias que participan en una reacción. Nos ayuda a entender en qué proporciones los elementos se combinan para formar compuestos </a:t>
            </a:r>
            <a:r>
              <a:rPr lang="es-MX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nuevos.En</a:t>
            </a:r>
            <a:r>
              <a:rPr lang="es-MX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este experimento, se calienta una tira de magnesio para que reaccione con el oxígeno del aire, formando óxido de magnesio (MgO). Al comparar las masas antes y después de la reacción, podemos saber cuánta cantidad de oxígeno se unió al magnesio y así comprobar la relación de proporciones fijas entre ambos </a:t>
            </a:r>
            <a:r>
              <a:rPr lang="es-MX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elementos.De</a:t>
            </a:r>
            <a:r>
              <a:rPr lang="es-MX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esta forma, aplicamos la estequiometría para demostrar que las sustancias reaccionan en cantidades exactas y definidas, lo cual confirma las leyes básicas de la química.</a:t>
            </a:r>
            <a:endParaRPr lang="es-BO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10DBABF-F4DD-4B00-B000-2081023FF814}"/>
              </a:ext>
            </a:extLst>
          </p:cNvPr>
          <p:cNvSpPr/>
          <p:nvPr/>
        </p:nvSpPr>
        <p:spPr>
          <a:xfrm>
            <a:off x="226628" y="4196219"/>
            <a:ext cx="2128265" cy="5135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Reproducir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738A85F-9B70-44C0-B43A-3363911F25EE}"/>
              </a:ext>
            </a:extLst>
          </p:cNvPr>
          <p:cNvSpPr/>
          <p:nvPr/>
        </p:nvSpPr>
        <p:spPr>
          <a:xfrm>
            <a:off x="2507293" y="4196219"/>
            <a:ext cx="2128265" cy="51356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 Información</a:t>
            </a:r>
          </a:p>
        </p:txBody>
      </p:sp>
    </p:spTree>
    <p:extLst>
      <p:ext uri="{BB962C8B-B14F-4D97-AF65-F5344CB8AC3E}">
        <p14:creationId xmlns:p14="http://schemas.microsoft.com/office/powerpoint/2010/main" val="4232598014"/>
      </p:ext>
    </p:extLst>
  </p:cSld>
  <p:clrMapOvr>
    <a:masterClrMapping/>
  </p:clrMapOvr>
  <p:transition spd="slow">
    <p:push dir="u"/>
    <p:sndAc>
      <p:stSnd>
        <p:snd r:embed="rId2" name="Netflix New Logo Animation Intro (Februrary 2019) (online-audio-converter.com)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E47739-85B5-4BC5-BB6C-260D0B7AC0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ACEA69F-C027-44B0-BDFA-43CA2F5F5E17}"/>
              </a:ext>
            </a:extLst>
          </p:cNvPr>
          <p:cNvSpPr/>
          <p:nvPr/>
        </p:nvSpPr>
        <p:spPr>
          <a:xfrm>
            <a:off x="100210" y="526093"/>
            <a:ext cx="4496842" cy="261793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A32009-65AE-4BAE-BC0D-161F43F0C301}"/>
              </a:ext>
            </a:extLst>
          </p:cNvPr>
          <p:cNvSpPr/>
          <p:nvPr/>
        </p:nvSpPr>
        <p:spPr>
          <a:xfrm>
            <a:off x="4835048" y="1187884"/>
            <a:ext cx="3371587" cy="19561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8855CE-158E-486E-82B8-974D3F62731D}"/>
              </a:ext>
            </a:extLst>
          </p:cNvPr>
          <p:cNvSpPr/>
          <p:nvPr/>
        </p:nvSpPr>
        <p:spPr>
          <a:xfrm>
            <a:off x="8444631" y="1187884"/>
            <a:ext cx="3371587" cy="195614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AAF3B4F-123C-4E7E-8AD0-7C6101989FA7}"/>
              </a:ext>
            </a:extLst>
          </p:cNvPr>
          <p:cNvSpPr/>
          <p:nvPr/>
        </p:nvSpPr>
        <p:spPr>
          <a:xfrm>
            <a:off x="100210" y="3795386"/>
            <a:ext cx="11716008" cy="2855935"/>
          </a:xfrm>
          <a:prstGeom prst="roundRect">
            <a:avLst>
              <a:gd name="adj" fmla="val 530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80B86B34-7871-44C4-A891-FC9B0C55C04E}"/>
              </a:ext>
            </a:extLst>
          </p:cNvPr>
          <p:cNvSpPr/>
          <p:nvPr/>
        </p:nvSpPr>
        <p:spPr>
          <a:xfrm>
            <a:off x="1916483" y="3288082"/>
            <a:ext cx="864296" cy="601249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1E5E3CA-4D58-46CC-9E51-DEBC6B5DA1A0}"/>
              </a:ext>
            </a:extLst>
          </p:cNvPr>
          <p:cNvSpPr/>
          <p:nvPr/>
        </p:nvSpPr>
        <p:spPr>
          <a:xfrm>
            <a:off x="0" y="0"/>
            <a:ext cx="12192000" cy="38204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06180E7-4C23-4BB0-8332-98AC0CB1D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16" y="-68895"/>
            <a:ext cx="957545" cy="53861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6AC24F3-3D43-44DE-A4EC-1288E5880549}"/>
              </a:ext>
            </a:extLst>
          </p:cNvPr>
          <p:cNvSpPr txBox="1"/>
          <p:nvPr/>
        </p:nvSpPr>
        <p:spPr>
          <a:xfrm>
            <a:off x="1346777" y="-2"/>
            <a:ext cx="709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Introducción	Objetivo	    Materiales        Procedimiento</a:t>
            </a:r>
          </a:p>
        </p:txBody>
      </p:sp>
      <p:pic>
        <p:nvPicPr>
          <p:cNvPr id="23" name="Gráfico 22" descr="Timbre con relleno sólido">
            <a:extLst>
              <a:ext uri="{FF2B5EF4-FFF2-40B4-BE49-F238E27FC236}">
                <a16:creationId xmlns:a16="http://schemas.microsoft.com/office/drawing/2014/main" id="{BA03E9B0-47A8-41B7-A619-24C56FB25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601201" y="-8423"/>
            <a:ext cx="382042" cy="382042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88A6AB9-59D4-4F94-82F3-34C8069446D2}"/>
              </a:ext>
            </a:extLst>
          </p:cNvPr>
          <p:cNvSpPr/>
          <p:nvPr/>
        </p:nvSpPr>
        <p:spPr>
          <a:xfrm>
            <a:off x="10701635" y="65760"/>
            <a:ext cx="957546" cy="26930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6" name="Gráfico 25" descr="Lupa con relleno sólido">
            <a:extLst>
              <a:ext uri="{FF2B5EF4-FFF2-40B4-BE49-F238E27FC236}">
                <a16:creationId xmlns:a16="http://schemas.microsoft.com/office/drawing/2014/main" id="{2DAD3AE2-4C0E-4A89-AD7A-A705C87EFA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8816" y="9392"/>
            <a:ext cx="382043" cy="382043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65412B1A-C12F-4929-8FA8-60E1BAFC6F28}"/>
              </a:ext>
            </a:extLst>
          </p:cNvPr>
          <p:cNvSpPr txBox="1"/>
          <p:nvPr/>
        </p:nvSpPr>
        <p:spPr>
          <a:xfrm>
            <a:off x="229645" y="3910280"/>
            <a:ext cx="4605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Objetivo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7DF511A-EC81-4414-B1D6-D877B6178517}"/>
              </a:ext>
            </a:extLst>
          </p:cNvPr>
          <p:cNvSpPr txBox="1"/>
          <p:nvPr/>
        </p:nvSpPr>
        <p:spPr>
          <a:xfrm>
            <a:off x="315365" y="4823243"/>
            <a:ext cx="728004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Comprobar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relación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masas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entre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oxígeno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formar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óxido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aplicar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los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cálculos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estequiométricos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obtener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fórmula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empírica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2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compuesto</a:t>
            </a:r>
            <a:r>
              <a:rPr lang="en-US" sz="2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BO" sz="24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BO" sz="2000" b="1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pic>
        <p:nvPicPr>
          <p:cNvPr id="30" name="Gráfico 29" descr="Señal de pulgar hacia arriba  con relleno sólido">
            <a:extLst>
              <a:ext uri="{FF2B5EF4-FFF2-40B4-BE49-F238E27FC236}">
                <a16:creationId xmlns:a16="http://schemas.microsoft.com/office/drawing/2014/main" id="{90D03A57-A235-499B-8C49-DB2623C9F5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35778" y="3795386"/>
            <a:ext cx="641378" cy="641378"/>
          </a:xfrm>
          <a:prstGeom prst="rect">
            <a:avLst/>
          </a:prstGeom>
        </p:spPr>
      </p:pic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B6676D4-ACFC-4F7D-AD2C-C4553ED2BD86}"/>
              </a:ext>
            </a:extLst>
          </p:cNvPr>
          <p:cNvSpPr/>
          <p:nvPr/>
        </p:nvSpPr>
        <p:spPr>
          <a:xfrm>
            <a:off x="8584736" y="4005779"/>
            <a:ext cx="2242159" cy="2498943"/>
          </a:xfrm>
          <a:prstGeom prst="round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27" name="Gráfico 1026" descr="Pulgar hacia abajo con relleno sólido">
            <a:extLst>
              <a:ext uri="{FF2B5EF4-FFF2-40B4-BE49-F238E27FC236}">
                <a16:creationId xmlns:a16="http://schemas.microsoft.com/office/drawing/2014/main" id="{A40A0F86-CC42-4749-B731-9AA1507CDB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35778" y="4623378"/>
            <a:ext cx="641379" cy="64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69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64DB378-5B9F-455E-97E8-D950E037933C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oundRect">
            <a:avLst>
              <a:gd name="adj" fmla="val 10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D596D4-9816-4351-AAD7-7F35541BAB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2D0374-57EE-4999-B72D-5A1FB0A5C2E1}"/>
              </a:ext>
            </a:extLst>
          </p:cNvPr>
          <p:cNvSpPr txBox="1"/>
          <p:nvPr/>
        </p:nvSpPr>
        <p:spPr>
          <a:xfrm>
            <a:off x="3597057" y="601249"/>
            <a:ext cx="4997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MATERIALES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530D766-51FB-4655-94F2-703B7D33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7" y="0"/>
            <a:ext cx="2315923" cy="130270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D9BC8CA-2E8F-4C99-9C0D-B7DF33731E41}"/>
              </a:ext>
            </a:extLst>
          </p:cNvPr>
          <p:cNvSpPr/>
          <p:nvPr/>
        </p:nvSpPr>
        <p:spPr>
          <a:xfrm>
            <a:off x="1265129" y="1891430"/>
            <a:ext cx="1803748" cy="179122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3F97E86-F860-48BA-9034-DC8C69C63162}"/>
              </a:ext>
            </a:extLst>
          </p:cNvPr>
          <p:cNvSpPr/>
          <p:nvPr/>
        </p:nvSpPr>
        <p:spPr>
          <a:xfrm>
            <a:off x="4615839" y="1852619"/>
            <a:ext cx="1803748" cy="179122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99E7A0-5AB8-4D01-8626-9778D5CBF6A9}"/>
              </a:ext>
            </a:extLst>
          </p:cNvPr>
          <p:cNvSpPr/>
          <p:nvPr/>
        </p:nvSpPr>
        <p:spPr>
          <a:xfrm>
            <a:off x="8947392" y="1751517"/>
            <a:ext cx="1803748" cy="179122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A1A740A-A379-4F53-997A-89E0329479DC}"/>
              </a:ext>
            </a:extLst>
          </p:cNvPr>
          <p:cNvSpPr txBox="1"/>
          <p:nvPr/>
        </p:nvSpPr>
        <p:spPr>
          <a:xfrm>
            <a:off x="163997" y="3815843"/>
            <a:ext cx="3461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Tira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magnesio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unos</a:t>
            </a:r>
            <a:r>
              <a:rPr lang="en-US" dirty="0">
                <a:solidFill>
                  <a:schemeClr val="bg1"/>
                </a:solidFill>
              </a:rPr>
              <a:t> 10 cm)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Crisoles</a:t>
            </a:r>
            <a:r>
              <a:rPr lang="en-US" dirty="0">
                <a:solidFill>
                  <a:schemeClr val="bg1"/>
                </a:solidFill>
              </a:rPr>
              <a:t> con tapa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</a:t>
            </a:r>
            <a:endParaRPr lang="es-MX" sz="20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F0C17F8-7864-4946-A832-76F93012F688}"/>
              </a:ext>
            </a:extLst>
          </p:cNvPr>
          <p:cNvSpPr txBox="1"/>
          <p:nvPr/>
        </p:nvSpPr>
        <p:spPr>
          <a:xfrm>
            <a:off x="3994156" y="3769677"/>
            <a:ext cx="3461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Pinzas</a:t>
            </a:r>
            <a:r>
              <a:rPr lang="en-US" dirty="0">
                <a:solidFill>
                  <a:schemeClr val="bg1"/>
                </a:solidFill>
              </a:rPr>
              <a:t> de metal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Mechero</a:t>
            </a:r>
            <a:r>
              <a:rPr lang="en-US" dirty="0">
                <a:solidFill>
                  <a:schemeClr val="bg1"/>
                </a:solidFill>
              </a:rPr>
              <a:t> Bunsen o vela </a:t>
            </a:r>
            <a:r>
              <a:rPr lang="en-US" dirty="0" err="1">
                <a:solidFill>
                  <a:schemeClr val="bg1"/>
                </a:solidFill>
              </a:rPr>
              <a:t>grande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s-MX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338D53A-3858-4222-AB81-1DD804F5D3B8}"/>
              </a:ext>
            </a:extLst>
          </p:cNvPr>
          <p:cNvSpPr txBox="1"/>
          <p:nvPr/>
        </p:nvSpPr>
        <p:spPr>
          <a:xfrm>
            <a:off x="8002045" y="3769677"/>
            <a:ext cx="335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Balanza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precisión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Guantes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gafas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seguridad</a:t>
            </a:r>
            <a:endParaRPr lang="es-MX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3C27827-7CB3-4AC8-AA3B-A4416913D57E}"/>
              </a:ext>
            </a:extLst>
          </p:cNvPr>
          <p:cNvSpPr txBox="1"/>
          <p:nvPr/>
        </p:nvSpPr>
        <p:spPr>
          <a:xfrm>
            <a:off x="3754675" y="5298046"/>
            <a:ext cx="4682647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Pasos a seguir</a:t>
            </a:r>
          </a:p>
        </p:txBody>
      </p:sp>
    </p:spTree>
    <p:extLst>
      <p:ext uri="{BB962C8B-B14F-4D97-AF65-F5344CB8AC3E}">
        <p14:creationId xmlns:p14="http://schemas.microsoft.com/office/powerpoint/2010/main" val="245612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18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D61F58-40DA-4724-9E69-9ADD69C34C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6932AB1-7668-43CE-9DD9-1D72D79E956F}"/>
              </a:ext>
            </a:extLst>
          </p:cNvPr>
          <p:cNvSpPr/>
          <p:nvPr/>
        </p:nvSpPr>
        <p:spPr>
          <a:xfrm>
            <a:off x="100210" y="3795386"/>
            <a:ext cx="11716008" cy="2855935"/>
          </a:xfrm>
          <a:prstGeom prst="roundRect">
            <a:avLst>
              <a:gd name="adj" fmla="val 530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0F873F-DBA6-4EA9-8FE3-9A96173F04B4}"/>
              </a:ext>
            </a:extLst>
          </p:cNvPr>
          <p:cNvSpPr/>
          <p:nvPr/>
        </p:nvSpPr>
        <p:spPr>
          <a:xfrm>
            <a:off x="3709793" y="526093"/>
            <a:ext cx="4496842" cy="261793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1883C5-2B32-487D-9B5F-B0CA1845215A}"/>
              </a:ext>
            </a:extLst>
          </p:cNvPr>
          <p:cNvSpPr/>
          <p:nvPr/>
        </p:nvSpPr>
        <p:spPr>
          <a:xfrm>
            <a:off x="100210" y="1187884"/>
            <a:ext cx="3371587" cy="19561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195211-CEC9-44C4-93F1-0DE73E6B910D}"/>
              </a:ext>
            </a:extLst>
          </p:cNvPr>
          <p:cNvSpPr/>
          <p:nvPr/>
        </p:nvSpPr>
        <p:spPr>
          <a:xfrm>
            <a:off x="8444631" y="1187884"/>
            <a:ext cx="3371587" cy="195614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D15A9419-8EE8-4141-8918-FA293AE54FE6}"/>
              </a:ext>
            </a:extLst>
          </p:cNvPr>
          <p:cNvSpPr/>
          <p:nvPr/>
        </p:nvSpPr>
        <p:spPr>
          <a:xfrm>
            <a:off x="5663852" y="3288082"/>
            <a:ext cx="864296" cy="601249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F0C1F8-0355-45AB-8B9E-98AB720850E8}"/>
              </a:ext>
            </a:extLst>
          </p:cNvPr>
          <p:cNvSpPr/>
          <p:nvPr/>
        </p:nvSpPr>
        <p:spPr>
          <a:xfrm>
            <a:off x="0" y="0"/>
            <a:ext cx="12192000" cy="38204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3D689DC-CCD6-4066-880D-A0E8F8EEC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16" y="-68895"/>
            <a:ext cx="957545" cy="53861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FC1235F-B217-44C2-A6E7-B3215A0B9BC7}"/>
              </a:ext>
            </a:extLst>
          </p:cNvPr>
          <p:cNvSpPr txBox="1"/>
          <p:nvPr/>
        </p:nvSpPr>
        <p:spPr>
          <a:xfrm>
            <a:off x="1346777" y="-2"/>
            <a:ext cx="696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Introducción	Objetivo	    Materiales        Procedimiento</a:t>
            </a:r>
          </a:p>
          <a:p>
            <a:endParaRPr lang="es-MX" b="1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15" name="Gráfico 14" descr="Timbre con relleno sólido">
            <a:extLst>
              <a:ext uri="{FF2B5EF4-FFF2-40B4-BE49-F238E27FC236}">
                <a16:creationId xmlns:a16="http://schemas.microsoft.com/office/drawing/2014/main" id="{D09F38E2-240A-4FD7-B76A-3AED3EAF9F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601201" y="-8423"/>
            <a:ext cx="382042" cy="382042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3548E81-D7FE-4BF8-BA5E-2F2DFBFE17CE}"/>
              </a:ext>
            </a:extLst>
          </p:cNvPr>
          <p:cNvSpPr/>
          <p:nvPr/>
        </p:nvSpPr>
        <p:spPr>
          <a:xfrm>
            <a:off x="10701635" y="65760"/>
            <a:ext cx="957546" cy="26930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7" name="Gráfico 16" descr="Lupa con relleno sólido">
            <a:extLst>
              <a:ext uri="{FF2B5EF4-FFF2-40B4-BE49-F238E27FC236}">
                <a16:creationId xmlns:a16="http://schemas.microsoft.com/office/drawing/2014/main" id="{ED588A28-9533-4501-8D5C-CC4DA6A329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8816" y="9392"/>
            <a:ext cx="382043" cy="38204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B0828F6-E250-4E84-B3A3-563B8C489BE5}"/>
              </a:ext>
            </a:extLst>
          </p:cNvPr>
          <p:cNvSpPr txBox="1"/>
          <p:nvPr/>
        </p:nvSpPr>
        <p:spPr>
          <a:xfrm>
            <a:off x="229645" y="3910280"/>
            <a:ext cx="5001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PROCEDIMIENTO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9530502-484B-4DD3-BE60-18E97AE30C8C}"/>
              </a:ext>
            </a:extLst>
          </p:cNvPr>
          <p:cNvSpPr txBox="1"/>
          <p:nvPr/>
        </p:nvSpPr>
        <p:spPr>
          <a:xfrm>
            <a:off x="212413" y="4553700"/>
            <a:ext cx="80806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Pesar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limpio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seco. Registrar la masa.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Colocar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dentro la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tira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pesar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nuevo (masa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+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Calentar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lentamente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tapa para que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comience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arder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reaccionar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oxígeno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aire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Cuando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brille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intensamente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(luz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blanca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tapar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evitar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se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escapen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óxidos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Una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vez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la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reacción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termine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dejar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enfriar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Pesar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óxido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formado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(masa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crisol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+ MgO).</a:t>
            </a:r>
            <a:b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7.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Calcular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masa de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de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oxígeno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sz="14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reaccionaron</a:t>
            </a:r>
            <a:r>
              <a:rPr lang="en-US" sz="14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BO" sz="14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pic>
        <p:nvPicPr>
          <p:cNvPr id="20" name="Gráfico 19" descr="Señal de pulgar hacia arriba  con relleno sólido">
            <a:extLst>
              <a:ext uri="{FF2B5EF4-FFF2-40B4-BE49-F238E27FC236}">
                <a16:creationId xmlns:a16="http://schemas.microsoft.com/office/drawing/2014/main" id="{EA4A23C0-99AD-4B61-8A89-D5544BD309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35778" y="3795386"/>
            <a:ext cx="641378" cy="641378"/>
          </a:xfrm>
          <a:prstGeom prst="rect">
            <a:avLst/>
          </a:prstGeom>
        </p:spPr>
      </p:pic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43BB9E4-CD6F-4645-832A-B0AA10369717}"/>
              </a:ext>
            </a:extLst>
          </p:cNvPr>
          <p:cNvSpPr/>
          <p:nvPr/>
        </p:nvSpPr>
        <p:spPr>
          <a:xfrm>
            <a:off x="8584736" y="4005779"/>
            <a:ext cx="2242159" cy="2498943"/>
          </a:xfrm>
          <a:prstGeom prst="round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3" name="Gráfico 22" descr="Pulgar hacia abajo con relleno sólido">
            <a:extLst>
              <a:ext uri="{FF2B5EF4-FFF2-40B4-BE49-F238E27FC236}">
                <a16:creationId xmlns:a16="http://schemas.microsoft.com/office/drawing/2014/main" id="{2C24A4D2-A469-40FD-BB0F-EDE6D9BE38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35778" y="4623378"/>
            <a:ext cx="641379" cy="64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44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F962B83-35C4-47D0-87F7-C56F513FDD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D71C3BB-B4C1-4AEC-8A3A-4ADDD33A04D3}"/>
              </a:ext>
            </a:extLst>
          </p:cNvPr>
          <p:cNvSpPr/>
          <p:nvPr/>
        </p:nvSpPr>
        <p:spPr>
          <a:xfrm>
            <a:off x="100210" y="3795386"/>
            <a:ext cx="11716008" cy="2855935"/>
          </a:xfrm>
          <a:prstGeom prst="roundRect">
            <a:avLst>
              <a:gd name="adj" fmla="val 5309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6B6032-E976-4AF1-876C-0F68A9C5691C}"/>
              </a:ext>
            </a:extLst>
          </p:cNvPr>
          <p:cNvSpPr/>
          <p:nvPr/>
        </p:nvSpPr>
        <p:spPr>
          <a:xfrm>
            <a:off x="7445679" y="588724"/>
            <a:ext cx="4496842" cy="261793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EAC496-9A7D-437C-BF03-A4CFF1DF3FBF}"/>
              </a:ext>
            </a:extLst>
          </p:cNvPr>
          <p:cNvSpPr/>
          <p:nvPr/>
        </p:nvSpPr>
        <p:spPr>
          <a:xfrm>
            <a:off x="3824613" y="1187884"/>
            <a:ext cx="3371587" cy="19561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BDF017-454B-4D68-8C65-6D36B00FBC4E}"/>
              </a:ext>
            </a:extLst>
          </p:cNvPr>
          <p:cNvSpPr/>
          <p:nvPr/>
        </p:nvSpPr>
        <p:spPr>
          <a:xfrm>
            <a:off x="174323" y="1187884"/>
            <a:ext cx="3371587" cy="195614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B663FE0A-F645-4BE8-A9A7-376504981F1C}"/>
              </a:ext>
            </a:extLst>
          </p:cNvPr>
          <p:cNvSpPr/>
          <p:nvPr/>
        </p:nvSpPr>
        <p:spPr>
          <a:xfrm>
            <a:off x="9694100" y="3331924"/>
            <a:ext cx="864296" cy="601249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2342157-961D-49AB-A7EA-9006552A0322}"/>
              </a:ext>
            </a:extLst>
          </p:cNvPr>
          <p:cNvSpPr/>
          <p:nvPr/>
        </p:nvSpPr>
        <p:spPr>
          <a:xfrm>
            <a:off x="0" y="0"/>
            <a:ext cx="12192000" cy="38204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07F5B04-97DD-48B9-BABF-E936CF347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16" y="-68895"/>
            <a:ext cx="957545" cy="53861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2933BD6-4FC4-46F0-9C67-6EAEA33C5CFE}"/>
              </a:ext>
            </a:extLst>
          </p:cNvPr>
          <p:cNvSpPr txBox="1"/>
          <p:nvPr/>
        </p:nvSpPr>
        <p:spPr>
          <a:xfrm>
            <a:off x="1346777" y="-2"/>
            <a:ext cx="686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Introducción	Objetivo	    Materiales        Procedimiento</a:t>
            </a:r>
          </a:p>
          <a:p>
            <a:endParaRPr lang="es-MX" b="1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14" name="Gráfico 13" descr="Timbre con relleno sólido">
            <a:extLst>
              <a:ext uri="{FF2B5EF4-FFF2-40B4-BE49-F238E27FC236}">
                <a16:creationId xmlns:a16="http://schemas.microsoft.com/office/drawing/2014/main" id="{E6D0A086-E93E-41B4-9D6E-FE37BEED6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601201" y="-8423"/>
            <a:ext cx="382042" cy="382042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565C435-F627-4BA0-99DD-F7D5678A2096}"/>
              </a:ext>
            </a:extLst>
          </p:cNvPr>
          <p:cNvSpPr/>
          <p:nvPr/>
        </p:nvSpPr>
        <p:spPr>
          <a:xfrm>
            <a:off x="10701635" y="65760"/>
            <a:ext cx="957546" cy="26930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6" name="Gráfico 15" descr="Lupa con relleno sólido">
            <a:extLst>
              <a:ext uri="{FF2B5EF4-FFF2-40B4-BE49-F238E27FC236}">
                <a16:creationId xmlns:a16="http://schemas.microsoft.com/office/drawing/2014/main" id="{D28732C1-1289-4030-9F3F-90ECA30319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8816" y="9392"/>
            <a:ext cx="382043" cy="38204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65CC39C-4FC8-422A-A31E-2DD97FE8AD3F}"/>
              </a:ext>
            </a:extLst>
          </p:cNvPr>
          <p:cNvSpPr txBox="1"/>
          <p:nvPr/>
        </p:nvSpPr>
        <p:spPr>
          <a:xfrm>
            <a:off x="229645" y="3910280"/>
            <a:ext cx="49686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OBSERVACIONES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3E56906-A057-4D71-824B-BCEB8F0151C7}"/>
              </a:ext>
            </a:extLst>
          </p:cNvPr>
          <p:cNvSpPr txBox="1"/>
          <p:nvPr/>
        </p:nvSpPr>
        <p:spPr>
          <a:xfrm>
            <a:off x="375781" y="4538669"/>
            <a:ext cx="54229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metálico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brilla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intensamente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quemarse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óxido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es un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polvo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blanco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La masa final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aumenta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indicando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oxígeno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combinó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BO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60E8626-9923-4CEA-AB20-23F2D17D4C15}"/>
              </a:ext>
            </a:extLst>
          </p:cNvPr>
          <p:cNvSpPr/>
          <p:nvPr/>
        </p:nvSpPr>
        <p:spPr>
          <a:xfrm>
            <a:off x="6109930" y="3973881"/>
            <a:ext cx="5549251" cy="249894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ECUACION FORMADA:</a:t>
            </a:r>
          </a:p>
          <a:p>
            <a:pPr algn="ctr"/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2Mg (s) + O₂ (g) → 2MgO (s)</a:t>
            </a:r>
            <a:endParaRPr lang="es-BO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009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9F7F8B2-FBA2-4B69-8A6C-A819A53732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A7E8B6-7621-4D6D-8BA6-F1D09B19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6" y="-68895"/>
            <a:ext cx="957545" cy="5386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174F746-7F47-46CB-A26A-A5B42B89CD1E}"/>
              </a:ext>
            </a:extLst>
          </p:cNvPr>
          <p:cNvSpPr txBox="1"/>
          <p:nvPr/>
        </p:nvSpPr>
        <p:spPr>
          <a:xfrm>
            <a:off x="1346777" y="-2"/>
            <a:ext cx="7180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Introducción	Objetivo	    Materiales        Procedimiento</a:t>
            </a:r>
          </a:p>
          <a:p>
            <a:endParaRPr lang="es-MX" b="1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6" name="Gráfico 5" descr="Timbre con relleno sólido">
            <a:extLst>
              <a:ext uri="{FF2B5EF4-FFF2-40B4-BE49-F238E27FC236}">
                <a16:creationId xmlns:a16="http://schemas.microsoft.com/office/drawing/2014/main" id="{0BB6DEEC-C6D2-454C-A6D0-A49737DBF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601201" y="-8423"/>
            <a:ext cx="382042" cy="382042"/>
          </a:xfrm>
          <a:prstGeom prst="rect">
            <a:avLst/>
          </a:prstGeom>
        </p:spPr>
      </p:pic>
      <p:pic>
        <p:nvPicPr>
          <p:cNvPr id="7" name="Gráfico 6" descr="Lupa con relleno sólido">
            <a:extLst>
              <a:ext uri="{FF2B5EF4-FFF2-40B4-BE49-F238E27FC236}">
                <a16:creationId xmlns:a16="http://schemas.microsoft.com/office/drawing/2014/main" id="{F7A8648B-1082-4647-8A19-B55A3342B6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8816" y="9392"/>
            <a:ext cx="382043" cy="382043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6675C62-760B-4205-A716-CA0FB2D51BC0}"/>
              </a:ext>
            </a:extLst>
          </p:cNvPr>
          <p:cNvSpPr/>
          <p:nvPr/>
        </p:nvSpPr>
        <p:spPr>
          <a:xfrm>
            <a:off x="10701635" y="65760"/>
            <a:ext cx="957546" cy="26930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9AB161-0D93-4A64-9FD4-1A4D70454909}"/>
              </a:ext>
            </a:extLst>
          </p:cNvPr>
          <p:cNvSpPr txBox="1"/>
          <p:nvPr/>
        </p:nvSpPr>
        <p:spPr>
          <a:xfrm>
            <a:off x="194616" y="829662"/>
            <a:ext cx="6165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CUESTIONARIO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1A264A8-415A-4675-BF71-2D44D7ACC9C4}"/>
              </a:ext>
            </a:extLst>
          </p:cNvPr>
          <p:cNvSpPr txBox="1"/>
          <p:nvPr/>
        </p:nvSpPr>
        <p:spPr>
          <a:xfrm>
            <a:off x="149587" y="1893621"/>
            <a:ext cx="67171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¿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representa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ecuación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balanceada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¿Por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aumenta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masa al final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experimento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¿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pasaría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no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quema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completamente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¿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ley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materia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comprueba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experimento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b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¿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Cuál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es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importancia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estequiometría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química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s-BO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3FCC052-9D86-407A-8365-2491C8B0682E}"/>
              </a:ext>
            </a:extLst>
          </p:cNvPr>
          <p:cNvSpPr/>
          <p:nvPr/>
        </p:nvSpPr>
        <p:spPr>
          <a:xfrm>
            <a:off x="201342" y="3919301"/>
            <a:ext cx="2128265" cy="5135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Reproducir</a:t>
            </a:r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C98208B9-81F3-4B2A-9877-6E564ECDB93E}"/>
              </a:ext>
            </a:extLst>
          </p:cNvPr>
          <p:cNvSpPr/>
          <p:nvPr/>
        </p:nvSpPr>
        <p:spPr>
          <a:xfrm>
            <a:off x="2530949" y="3947484"/>
            <a:ext cx="457200" cy="457200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CAA7C67C-4C3B-4F92-9948-B01CBA60ECB6}"/>
              </a:ext>
            </a:extLst>
          </p:cNvPr>
          <p:cNvSpPr/>
          <p:nvPr/>
        </p:nvSpPr>
        <p:spPr>
          <a:xfrm>
            <a:off x="3172613" y="3947484"/>
            <a:ext cx="457200" cy="457200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2FF84070-96C1-4513-AFF3-4EEFE7EC8C4C}"/>
              </a:ext>
            </a:extLst>
          </p:cNvPr>
          <p:cNvSpPr/>
          <p:nvPr/>
        </p:nvSpPr>
        <p:spPr>
          <a:xfrm>
            <a:off x="3814277" y="3939922"/>
            <a:ext cx="457200" cy="457200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96F0D14-F25C-4709-AB1D-6CDE769A5498}"/>
              </a:ext>
            </a:extLst>
          </p:cNvPr>
          <p:cNvSpPr/>
          <p:nvPr/>
        </p:nvSpPr>
        <p:spPr>
          <a:xfrm>
            <a:off x="7920524" y="4168254"/>
            <a:ext cx="4190793" cy="24689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BIBLIOGRAFIA: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Chang, R. —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Química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general.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Petrucci, R. —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Principios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química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general.</a:t>
            </a:r>
            <a:b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Manual de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prácticas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química</a:t>
            </a:r>
            <a:r>
              <a:rPr lang="en-US" sz="1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del colegio o </a:t>
            </a:r>
            <a:r>
              <a:rPr lang="en-US" sz="12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universidad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BO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s-BO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9361D82-5E10-45EC-8FBD-B285C905999B}"/>
              </a:ext>
            </a:extLst>
          </p:cNvPr>
          <p:cNvSpPr txBox="1"/>
          <p:nvPr/>
        </p:nvSpPr>
        <p:spPr>
          <a:xfrm>
            <a:off x="80682" y="5516939"/>
            <a:ext cx="80551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oxígeno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reaccionan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proporción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1:1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número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moles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formar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óxido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magnesio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demuestra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que los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elementos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combinan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proporciones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definidas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confirmando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las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leyes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estequiométricas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permitiendo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determinar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fórmula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compuesto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BO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BO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s-MX" sz="2000" b="1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DCB13FA-A0ED-4341-ADDD-35F4778FBB5E}"/>
              </a:ext>
            </a:extLst>
          </p:cNvPr>
          <p:cNvSpPr txBox="1"/>
          <p:nvPr/>
        </p:nvSpPr>
        <p:spPr>
          <a:xfrm>
            <a:off x="10825" y="4452980"/>
            <a:ext cx="6165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01706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590</Words>
  <Application>Microsoft Office PowerPoint</Application>
  <PresentationFormat>Panorámica</PresentationFormat>
  <Paragraphs>37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 Nova Light</vt:lpstr>
      <vt:lpstr>Cambria</vt:lpstr>
      <vt:lpstr>Aharoni</vt:lpstr>
      <vt:lpstr>Amasis MT Pro Black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Dominguez Azamar Daniel</dc:creator>
  <cp:lastModifiedBy>Usuario</cp:lastModifiedBy>
  <cp:revision>54</cp:revision>
  <dcterms:created xsi:type="dcterms:W3CDTF">2021-08-24T06:00:38Z</dcterms:created>
  <dcterms:modified xsi:type="dcterms:W3CDTF">2025-10-29T00:51:12Z</dcterms:modified>
</cp:coreProperties>
</file>